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0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" y="0"/>
            <a:ext cx="32004" cy="685800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00D4FF"/>
                </a:solidFill>
                <a:latin typeface="Calibri"/>
              </a:rPr>
              <a:t>PC BUILD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SIMULATOR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108960"/>
            <a:ext cx="11274552" cy="16459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46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8888BB"/>
                </a:solidFill>
                <a:latin typeface="Calibri"/>
              </a:rPr>
              <a:t>3D Interactive Web Application — Professional Technical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947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B2FF7"/>
                </a:solidFill>
                <a:latin typeface="Calibri"/>
              </a:rPr>
              <a:t>Built with  Three.js · HTML5 · CSS3 · JavaScript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43400"/>
            <a:ext cx="850392" cy="27432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50510"/>
                </a:solidFill>
                <a:latin typeface="Calibri"/>
              </a:rPr>
              <a:t>Three.js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19072" y="4343400"/>
            <a:ext cx="1239012" cy="274320"/>
          </a:xfrm>
          <a:prstGeom prst="round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50510"/>
                </a:solidFill>
                <a:latin typeface="Calibri"/>
              </a:rPr>
              <a:t>OrbitControls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95244" y="4343400"/>
            <a:ext cx="617220" cy="274320"/>
          </a:xfrm>
          <a:prstGeom prst="roundRect">
            <a:avLst/>
          </a:prstGeom>
          <a:solidFill>
            <a:srgbClr val="FF2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50510"/>
                </a:solidFill>
                <a:latin typeface="Calibri"/>
              </a:rPr>
              <a:t>WebGL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9624" y="4343400"/>
            <a:ext cx="539496" cy="274320"/>
          </a:xfrm>
          <a:prstGeom prst="round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50510"/>
                </a:solidFill>
                <a:latin typeface="Calibri"/>
              </a:rPr>
              <a:t>GSAP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4343400"/>
            <a:ext cx="1549908" cy="274320"/>
          </a:xfrm>
          <a:prstGeom prst="round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50510"/>
                </a:solidFill>
                <a:latin typeface="Calibri"/>
              </a:rPr>
              <a:t>CSS Glassmorphism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217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BB"/>
                </a:solidFill>
                <a:latin typeface="Calibri"/>
              </a:rPr>
              <a:t>March 2026  |  Frontend Engineering &amp; 3D Web Development</a:t>
            </a:r>
          </a:p>
        </p:txBody>
      </p:sp>
      <p:pic>
        <p:nvPicPr>
          <p:cNvPr id="17" name="Picture 16" descr="click_feedback_17734744372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74320"/>
            <a:ext cx="5029200" cy="630936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6949440" y="0"/>
            <a:ext cx="5239512" cy="6858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BB"/>
                </a:solidFill>
                <a:latin typeface="Calibri"/>
              </a:rP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PROJECT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11274552" cy="16459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5303520" cy="2011680"/>
          </a:xfrm>
          <a:prstGeom prst="rect">
            <a:avLst/>
          </a:prstGeom>
          <a:solidFill>
            <a:srgbClr val="08082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51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📌  What Is It?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FF"/>
                </a:solidFill>
                <a:latin typeface="Calibri"/>
              </a:rPr>
              <a:t>A fully browser-based, interactive 3D PC Building Simulator where users learn to assemble a computer step-by-step by interacting with real 3D hardware component models inside a virtual PC case — no installation required.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005840"/>
            <a:ext cx="5943600" cy="2011680"/>
          </a:xfrm>
          <a:prstGeom prst="rect">
            <a:avLst/>
          </a:prstGeom>
          <a:solidFill>
            <a:srgbClr val="080820"/>
          </a:solidFill>
          <a:ln w="12700">
            <a:solidFill>
              <a:srgbClr val="7B2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0760" y="10515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B2FF7"/>
                </a:solidFill>
                <a:latin typeface="Calibri"/>
              </a:rPr>
              <a:t>🎯  Project Goals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63040"/>
            <a:ext cx="5577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 b="1">
                <a:solidFill>
                  <a:srgbClr val="7B2FF7"/>
                </a:solidFill>
              </a:rPr>
              <a:t>▸ </a:t>
            </a:r>
            <a:r>
              <a:rPr sz="1200">
                <a:solidFill>
                  <a:srgbClr val="E0E0FF"/>
                </a:solidFill>
                <a:latin typeface="Calibri"/>
              </a:rPr>
              <a:t>Fully interactive 3D PC case with openable side panel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7B2FF7"/>
                </a:solidFill>
              </a:rPr>
              <a:t>▸ </a:t>
            </a:r>
            <a:r>
              <a:rPr sz="1200">
                <a:solidFill>
                  <a:srgbClr val="E0E0FF"/>
                </a:solidFill>
                <a:latin typeface="Calibri"/>
              </a:rPr>
              <a:t>Working camera controls (rotate, zoom, reset)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7B2FF7"/>
                </a:solidFill>
              </a:rPr>
              <a:t>▸ </a:t>
            </a:r>
            <a:r>
              <a:rPr sz="1200">
                <a:solidFill>
                  <a:srgbClr val="E0E0FF"/>
                </a:solidFill>
                <a:latin typeface="Calibri"/>
              </a:rPr>
              <a:t>All hardware components as clickable 3D objects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7B2FF7"/>
                </a:solidFill>
              </a:rPr>
              <a:t>▸ </a:t>
            </a:r>
            <a:r>
              <a:rPr sz="1200">
                <a:solidFill>
                  <a:srgbClr val="E0E0FF"/>
                </a:solidFill>
                <a:latin typeface="Calibri"/>
              </a:rPr>
              <a:t>Guided assembly simulation with snap-in animations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7B2FF7"/>
                </a:solidFill>
              </a:rPr>
              <a:t>▸ </a:t>
            </a:r>
            <a:r>
              <a:rPr sz="1200">
                <a:solidFill>
                  <a:srgbClr val="E0E0FF"/>
                </a:solidFill>
                <a:latin typeface="Calibri"/>
              </a:rPr>
              <a:t>Professional futuristic UI — fullscreen, tooltips, highlights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246120"/>
            <a:ext cx="2103120" cy="1371600"/>
          </a:xfrm>
          <a:prstGeom prst="rect">
            <a:avLst/>
          </a:prstGeom>
          <a:solidFill>
            <a:srgbClr val="0A0022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3832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D4FF"/>
                </a:solidFill>
                <a:latin typeface="Calibri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97763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BB"/>
                </a:solidFill>
                <a:latin typeface="Calibri"/>
              </a:rPr>
              <a:t>Build Steps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97479" y="3246120"/>
            <a:ext cx="2103120" cy="1371600"/>
          </a:xfrm>
          <a:prstGeom prst="rect">
            <a:avLst/>
          </a:prstGeom>
          <a:solidFill>
            <a:srgbClr val="0A0022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97479" y="33832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D4FF"/>
                </a:solidFill>
                <a:latin typeface="Calibri"/>
              </a:rPr>
              <a:t>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79" y="397763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BB"/>
                </a:solidFill>
                <a:latin typeface="Calibri"/>
              </a:rPr>
              <a:t>3D Components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3246120"/>
            <a:ext cx="2103120" cy="1371600"/>
          </a:xfrm>
          <a:prstGeom prst="rect">
            <a:avLst/>
          </a:prstGeom>
          <a:solidFill>
            <a:srgbClr val="0A0022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33832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D4FF"/>
                </a:solidFill>
                <a:latin typeface="Calibr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97763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BB"/>
                </a:solidFill>
                <a:latin typeface="Calibri"/>
              </a:rPr>
              <a:t>Camera Buttons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60919" y="3246120"/>
            <a:ext cx="2103120" cy="1371600"/>
          </a:xfrm>
          <a:prstGeom prst="rect">
            <a:avLst/>
          </a:prstGeom>
          <a:solidFill>
            <a:srgbClr val="0A0022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0919" y="33832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D4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19" y="397763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BB"/>
                </a:solidFill>
                <a:latin typeface="Calibri"/>
              </a:rPr>
              <a:t>Pages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92640" y="3246120"/>
            <a:ext cx="2103120" cy="1371600"/>
          </a:xfrm>
          <a:prstGeom prst="rect">
            <a:avLst/>
          </a:prstGeom>
          <a:solidFill>
            <a:srgbClr val="0A0022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0" y="33832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D4FF"/>
                </a:solidFill>
                <a:latin typeface="Calibri"/>
              </a:rPr>
              <a:t>100%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397763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BB"/>
                </a:solidFill>
                <a:latin typeface="Calibri"/>
              </a:rPr>
              <a:t>Browser-Based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800600"/>
            <a:ext cx="11475720" cy="1783080"/>
          </a:xfrm>
          <a:prstGeom prst="rect">
            <a:avLst/>
          </a:prstGeom>
          <a:solidFill>
            <a:srgbClr val="060618"/>
          </a:solidFill>
          <a:ln w="12700">
            <a:solidFill>
              <a:srgbClr val="FF2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8463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2D95"/>
                </a:solidFill>
                <a:latin typeface="Calibri"/>
              </a:rPr>
              <a:t>⚠  Problems Fixed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212080"/>
            <a:ext cx="5394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50" b="1">
                <a:solidFill>
                  <a:srgbClr val="FF2D95"/>
                </a:solidFill>
              </a:rPr>
              <a:t>✗ </a:t>
            </a:r>
            <a:r>
              <a:rPr sz="1150">
                <a:solidFill>
                  <a:srgbClr val="E0E0FF"/>
                </a:solidFill>
                <a:latin typeface="Calibri"/>
              </a:rPr>
              <a:t>Case not interactive/openable</a:t>
            </a:r>
          </a:p>
          <a:p>
            <a:pPr>
              <a:spcBef>
                <a:spcPts val="300"/>
              </a:spcBef>
            </a:pPr>
            <a:r>
              <a:rPr sz="1150" b="1">
                <a:solidFill>
                  <a:srgbClr val="FF2D95"/>
                </a:solidFill>
              </a:rPr>
              <a:t>✗ </a:t>
            </a:r>
            <a:r>
              <a:rPr sz="1150">
                <a:solidFill>
                  <a:srgbClr val="E0E0FF"/>
                </a:solidFill>
                <a:latin typeface="Calibri"/>
              </a:rPr>
              <a:t>Zoom/Reset/Fullscreen buttons broken</a:t>
            </a:r>
          </a:p>
          <a:p>
            <a:pPr>
              <a:spcBef>
                <a:spcPts val="300"/>
              </a:spcBef>
            </a:pPr>
            <a:r>
              <a:rPr sz="1150" b="1">
                <a:solidFill>
                  <a:srgbClr val="FF2D95"/>
                </a:solidFill>
              </a:rPr>
              <a:t>✗ </a:t>
            </a:r>
            <a:r>
              <a:rPr sz="1150">
                <a:solidFill>
                  <a:srgbClr val="E0E0FF"/>
                </a:solidFill>
                <a:latin typeface="Calibri"/>
              </a:rPr>
              <a:t>Components not 3D objects</a:t>
            </a:r>
          </a:p>
          <a:p>
            <a:pPr>
              <a:spcBef>
                <a:spcPts val="300"/>
              </a:spcBef>
            </a:pPr>
            <a:r>
              <a:rPr sz="1150" b="1">
                <a:solidFill>
                  <a:srgbClr val="FF2D95"/>
                </a:solidFill>
              </a:rPr>
              <a:t>✗ </a:t>
            </a:r>
            <a:r>
              <a:rPr sz="1150">
                <a:solidFill>
                  <a:srgbClr val="E0E0FF"/>
                </a:solidFill>
                <a:latin typeface="Calibri"/>
              </a:rPr>
              <a:t>OrbitControls not loading</a:t>
            </a:r>
          </a:p>
          <a:p>
            <a:pPr>
              <a:spcBef>
                <a:spcPts val="300"/>
              </a:spcBef>
            </a:pPr>
            <a:r>
              <a:rPr sz="1150" b="1">
                <a:solidFill>
                  <a:srgbClr val="FF2D95"/>
                </a:solidFill>
              </a:rPr>
              <a:t>✗ </a:t>
            </a:r>
            <a:r>
              <a:rPr sz="1150">
                <a:solidFill>
                  <a:srgbClr val="E0E0FF"/>
                </a:solidFill>
                <a:latin typeface="Calibri"/>
              </a:rPr>
              <a:t>No tooltips or hover effects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48463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88"/>
                </a:solidFill>
                <a:latin typeface="Calibri"/>
              </a:rPr>
              <a:t>✅  Solutions Implemented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5212080"/>
            <a:ext cx="5394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50" b="1">
                <a:solidFill>
                  <a:srgbClr val="00FF88"/>
                </a:solidFill>
              </a:rPr>
              <a:t>✓ </a:t>
            </a:r>
            <a:r>
              <a:rPr sz="1150">
                <a:solidFill>
                  <a:srgbClr val="E0E0FF"/>
                </a:solidFill>
                <a:latin typeface="Calibri"/>
              </a:rPr>
              <a:t>Full 3D case with animated glass panel hinge</a:t>
            </a:r>
          </a:p>
          <a:p>
            <a:pPr>
              <a:spcBef>
                <a:spcPts val="300"/>
              </a:spcBef>
            </a:pPr>
            <a:r>
              <a:rPr sz="1150" b="1">
                <a:solidFill>
                  <a:srgbClr val="00FF88"/>
                </a:solidFill>
              </a:rPr>
              <a:t>✓ </a:t>
            </a:r>
            <a:r>
              <a:rPr sz="1150">
                <a:solidFill>
                  <a:srgbClr val="E0E0FF"/>
                </a:solidFill>
                <a:latin typeface="Calibri"/>
              </a:rPr>
              <a:t>6 working camera control buttons</a:t>
            </a:r>
          </a:p>
          <a:p>
            <a:pPr>
              <a:spcBef>
                <a:spcPts val="300"/>
              </a:spcBef>
            </a:pPr>
            <a:r>
              <a:rPr sz="1150" b="1">
                <a:solidFill>
                  <a:srgbClr val="00FF88"/>
                </a:solidFill>
              </a:rPr>
              <a:t>✓ </a:t>
            </a:r>
            <a:r>
              <a:rPr sz="1150">
                <a:solidFill>
                  <a:srgbClr val="E0E0FF"/>
                </a:solidFill>
                <a:latin typeface="Calibri"/>
              </a:rPr>
              <a:t>9 distinct 3D hardware meshes</a:t>
            </a:r>
          </a:p>
          <a:p>
            <a:pPr>
              <a:spcBef>
                <a:spcPts val="300"/>
              </a:spcBef>
            </a:pPr>
            <a:r>
              <a:rPr sz="1150" b="1">
                <a:solidFill>
                  <a:srgbClr val="00FF88"/>
                </a:solidFill>
              </a:rPr>
              <a:t>✓ </a:t>
            </a:r>
            <a:r>
              <a:rPr sz="1150">
                <a:solidFill>
                  <a:srgbClr val="E0E0FF"/>
                </a:solidFill>
                <a:latin typeface="Calibri"/>
              </a:rPr>
              <a:t>Fixed CDN to jsdelivr.net</a:t>
            </a:r>
          </a:p>
          <a:p>
            <a:pPr>
              <a:spcBef>
                <a:spcPts val="300"/>
              </a:spcBef>
            </a:pPr>
            <a:r>
              <a:rPr sz="1150" b="1">
                <a:solidFill>
                  <a:srgbClr val="00FF88"/>
                </a:solidFill>
              </a:rPr>
              <a:t>✓ </a:t>
            </a:r>
            <a:r>
              <a:rPr sz="1150">
                <a:solidFill>
                  <a:srgbClr val="E0E0FF"/>
                </a:solidFill>
                <a:latin typeface="Calibri"/>
              </a:rPr>
              <a:t>3D hover glow + floating tooltip DOM element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BB"/>
                </a:solidFill>
                <a:latin typeface="Calibr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HOME PAGE  —  Landing &amp; Navigation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1274552" cy="16459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lick_feedback_17734744372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6766560" cy="53035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0" y="960120"/>
            <a:ext cx="4572000" cy="896112"/>
          </a:xfrm>
          <a:prstGeom prst="rect">
            <a:avLst/>
          </a:prstGeom>
          <a:solidFill>
            <a:srgbClr val="08082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0" y="960120"/>
            <a:ext cx="45720" cy="89611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24927" y="10058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Calibri"/>
              </a:rPr>
              <a:t>⬡ PCBuild Logo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4927" y="134416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FF"/>
                </a:solidFill>
                <a:latin typeface="Calibri"/>
              </a:rPr>
              <a:t>Brand identity with Orbitron font + animated hex icon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1965960"/>
            <a:ext cx="4572000" cy="896112"/>
          </a:xfrm>
          <a:prstGeom prst="rect">
            <a:avLst/>
          </a:prstGeom>
          <a:solidFill>
            <a:srgbClr val="080820"/>
          </a:solidFill>
          <a:ln w="12700">
            <a:solidFill>
              <a:srgbClr val="7B2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0" y="1965960"/>
            <a:ext cx="45720" cy="896112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24927" y="20116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B2FF7"/>
                </a:solidFill>
                <a:latin typeface="Calibri"/>
              </a:rPr>
              <a:t>🧭 Navigation Bar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4927" y="235000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FF"/>
                </a:solidFill>
                <a:latin typeface="Calibri"/>
              </a:rPr>
              <a:t>Home · Simulator · Learn · Compare · Challenges + Level indicator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2971800"/>
            <a:ext cx="4572000" cy="896112"/>
          </a:xfrm>
          <a:prstGeom prst="rect">
            <a:avLst/>
          </a:prstGeom>
          <a:solidFill>
            <a:srgbClr val="080820"/>
          </a:solidFill>
          <a:ln w="12700">
            <a:solidFill>
              <a:srgbClr val="FF2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0" y="2971800"/>
            <a:ext cx="45720" cy="896112"/>
          </a:xfrm>
          <a:prstGeom prst="rect">
            <a:avLst/>
          </a:prstGeom>
          <a:solidFill>
            <a:srgbClr val="FF2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24927" y="30175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2D95"/>
                </a:solidFill>
                <a:latin typeface="Calibri"/>
              </a:rPr>
              <a:t>🚀 Hero Section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4927" y="335584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FF"/>
                </a:solidFill>
                <a:latin typeface="Calibri"/>
              </a:rPr>
              <a:t>Animated counters: 35 Components, 20 Steps, 100% Interactive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0" y="3977640"/>
            <a:ext cx="4572000" cy="896112"/>
          </a:xfrm>
          <a:prstGeom prst="rect">
            <a:avLst/>
          </a:prstGeom>
          <a:solidFill>
            <a:srgbClr val="080820"/>
          </a:solidFill>
          <a:ln w="127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3977640"/>
            <a:ext cx="45720" cy="896112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24927" y="40233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A00"/>
                </a:solidFill>
                <a:latin typeface="Calibri"/>
              </a:rPr>
              <a:t>🎮 CTA Buttons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4927" y="436168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FF"/>
                </a:solidFill>
                <a:latin typeface="Calibri"/>
              </a:rPr>
              <a:t>Launch Simulator (gradient glow) + Start Learning (outline)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4983480"/>
            <a:ext cx="4572000" cy="896112"/>
          </a:xfrm>
          <a:prstGeom prst="rect">
            <a:avLst/>
          </a:prstGeom>
          <a:solidFill>
            <a:srgbClr val="080820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0" y="4983480"/>
            <a:ext cx="45720" cy="89611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24927" y="50292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F88"/>
                </a:solidFill>
                <a:latin typeface="Calibri"/>
              </a:rPr>
              <a:t>✦ Particle BG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4927" y="536752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FF"/>
                </a:solidFill>
                <a:latin typeface="Calibri"/>
              </a:rPr>
              <a:t>Canvas-based animated particle system (particles.js)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BB"/>
                </a:solidFill>
                <a:latin typeface="Calibr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3D SIMULATOR — Full Page Layout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1274552" cy="16459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lick_feedback_17734744558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7132320" cy="53035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726679" y="960120"/>
            <a:ext cx="4297680" cy="896112"/>
          </a:xfrm>
          <a:prstGeom prst="rect">
            <a:avLst/>
          </a:prstGeom>
          <a:solidFill>
            <a:srgbClr val="08082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26679" y="960120"/>
            <a:ext cx="45720" cy="89611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45552" y="99669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LEFT SIDEBAR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45552" y="1344168"/>
            <a:ext cx="41330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FF"/>
                </a:solidFill>
                <a:latin typeface="Calibri"/>
              </a:rPr>
              <a:t>Component list, search bar, category filter pills, build progress bar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26679" y="1965960"/>
            <a:ext cx="4297680" cy="896112"/>
          </a:xfrm>
          <a:prstGeom prst="rect">
            <a:avLst/>
          </a:prstGeom>
          <a:solidFill>
            <a:srgbClr val="08082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26679" y="1965960"/>
            <a:ext cx="45720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45552" y="200253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CENTER VIEWPORT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5552" y="2350008"/>
            <a:ext cx="41330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FF"/>
                </a:solidFill>
                <a:latin typeface="Calibri"/>
              </a:rPr>
              <a:t>Three.js WebGL canvas — drag to rotate, scroll to zoom, click to select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26679" y="2971800"/>
            <a:ext cx="4297680" cy="896112"/>
          </a:xfrm>
          <a:prstGeom prst="rect">
            <a:avLst/>
          </a:prstGeom>
          <a:solidFill>
            <a:srgbClr val="080820"/>
          </a:solidFill>
          <a:ln w="12700">
            <a:solidFill>
              <a:srgbClr val="7B2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26679" y="2971800"/>
            <a:ext cx="45720" cy="896112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45552" y="300837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2FF7"/>
                </a:solidFill>
                <a:latin typeface="Calibri"/>
              </a:rPr>
              <a:t>RIGHT PANEL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5552" y="3355848"/>
            <a:ext cx="41330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FF"/>
                </a:solidFill>
                <a:latin typeface="Calibri"/>
              </a:rPr>
              <a:t>Build Guide (Step 0/9) + Component Details with specs &amp; tips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26679" y="3977640"/>
            <a:ext cx="4297680" cy="896112"/>
          </a:xfrm>
          <a:prstGeom prst="rect">
            <a:avLst/>
          </a:prstGeom>
          <a:solidFill>
            <a:srgbClr val="080820"/>
          </a:solidFill>
          <a:ln w="127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26679" y="3977640"/>
            <a:ext cx="45720" cy="896112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45552" y="401421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A00"/>
                </a:solidFill>
                <a:latin typeface="Calibri"/>
              </a:rPr>
              <a:t>CONTROL BUTTONS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45552" y="4361688"/>
            <a:ext cx="41330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FF"/>
                </a:solidFill>
                <a:latin typeface="Calibri"/>
              </a:rPr>
              <a:t>6 floating action buttons: Zoom±, Rotate, Reset, Case, Fullscreen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26679" y="4983480"/>
            <a:ext cx="4297680" cy="896112"/>
          </a:xfrm>
          <a:prstGeom prst="rect">
            <a:avLst/>
          </a:prstGeom>
          <a:solidFill>
            <a:srgbClr val="080820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26679" y="4983480"/>
            <a:ext cx="45720" cy="89611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45552" y="502005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  <a:latin typeface="Calibri"/>
              </a:rPr>
              <a:t>HINT OVERLAY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45552" y="5367528"/>
            <a:ext cx="41330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FF"/>
                </a:solidFill>
                <a:latin typeface="Calibri"/>
              </a:rPr>
              <a:t>Context-aware bottom hint: 'Select a component from the sidebar to install'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BB"/>
                </a:solidFill>
                <a:latin typeface="Calibr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2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INTERACTIVE 3D PC 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1274552" cy="16459"/>
          </a:xfrm>
          <a:prstGeom prst="rect">
            <a:avLst/>
          </a:prstGeom>
          <a:solidFill>
            <a:srgbClr val="FF2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lick_feedback_17734744558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0"/>
            <a:ext cx="5303520" cy="4114800"/>
          </a:xfrm>
          <a:prstGeom prst="rect">
            <a:avLst/>
          </a:prstGeom>
        </p:spPr>
      </p:pic>
      <p:pic>
        <p:nvPicPr>
          <p:cNvPr id="7" name="Picture 6" descr="click_feedback_17734744639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914400"/>
            <a:ext cx="530352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0040" y="5074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BB"/>
                </a:solidFill>
                <a:latin typeface="Calibri"/>
              </a:rPr>
              <a:t>▲  Case CLOSED (default)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5074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2D95"/>
                </a:solidFill>
                <a:latin typeface="Calibri"/>
              </a:rPr>
              <a:t>▲  Case OPEN (glass panel swings on hinge)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486400"/>
            <a:ext cx="115214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 b="1">
                <a:solidFill>
                  <a:srgbClr val="FF2D95"/>
                </a:solidFill>
              </a:rPr>
              <a:t>▸ </a:t>
            </a:r>
            <a:r>
              <a:rPr sz="1200">
                <a:solidFill>
                  <a:srgbClr val="E0E0FF"/>
                </a:solidFill>
                <a:latin typeface="Calibri"/>
              </a:rPr>
              <a:t>Dark steel ATX mid-tower body — 5 permanent walls + openable glass panel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FF2D95"/>
                </a:solidFill>
              </a:rPr>
              <a:t>▸ </a:t>
            </a:r>
            <a:r>
              <a:rPr sz="1200">
                <a:solidFill>
                  <a:srgbClr val="E0E0FF"/>
                </a:solidFill>
                <a:latin typeface="Calibri"/>
              </a:rPr>
              <a:t>Tempered glass side panel with cyan LED border rotates on a hinge (−90°)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FF2D95"/>
                </a:solidFill>
              </a:rPr>
              <a:t>▸ </a:t>
            </a:r>
            <a:r>
              <a:rPr sz="1200">
                <a:solidFill>
                  <a:srgbClr val="E0E0FF"/>
                </a:solidFill>
                <a:latin typeface="Calibri"/>
              </a:rPr>
              <a:t>Internal neon RGB strips (cyan + magenta) pulsing with sin() animation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FF2D95"/>
                </a:solidFill>
              </a:rPr>
              <a:t>▸ </a:t>
            </a:r>
            <a:r>
              <a:rPr sz="1200">
                <a:solidFill>
                  <a:srgbClr val="E0E0FF"/>
                </a:solidFill>
                <a:latin typeface="Calibri"/>
              </a:rPr>
              <a:t>PSU shroud, motherboard tray, 9 brass standoffs, I/O backplate all modeled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FF2D95"/>
                </a:solidFill>
              </a:rPr>
              <a:t>▸ </a:t>
            </a:r>
            <a:r>
              <a:rPr sz="1200">
                <a:solidFill>
                  <a:srgbClr val="E0E0FF"/>
                </a:solidFill>
                <a:latin typeface="Calibri"/>
              </a:rPr>
              <a:t>Front panel: USB ports, power button (glowing), I/O strip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FF2D95"/>
                </a:solidFill>
              </a:rPr>
              <a:t>▸ </a:t>
            </a:r>
            <a:r>
              <a:rPr sz="1200">
                <a:solidFill>
                  <a:srgbClr val="E0E0FF"/>
                </a:solidFill>
                <a:latin typeface="Calibri"/>
              </a:rPr>
              <a:t>Top exhaust vent grilles + top/front RGB accent strips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FF2D95"/>
                </a:solidFill>
              </a:rPr>
              <a:t>▸ </a:t>
            </a:r>
            <a:r>
              <a:rPr sz="1200">
                <a:solidFill>
                  <a:srgbClr val="E0E0FF"/>
                </a:solidFill>
                <a:latin typeface="Calibri"/>
              </a:rPr>
              <a:t>Subtle ambient case rotation animation when no components installed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BB"/>
                </a:solidFill>
                <a:latin typeface="Calibr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WORKING CAMERA CONTROLS — OrbitControls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1274552" cy="16459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lick_feedback_17734744558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0"/>
            <a:ext cx="5486400" cy="5120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126480" y="914400"/>
            <a:ext cx="5897880" cy="841248"/>
          </a:xfrm>
          <a:prstGeom prst="rect">
            <a:avLst/>
          </a:prstGeom>
          <a:solidFill>
            <a:srgbClr val="07071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172200" y="1024128"/>
            <a:ext cx="594360" cy="5943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050510"/>
                </a:solidFill>
              </a:rPr>
              <a:t>🔍+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95097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Zoom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129844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FF"/>
                </a:solidFill>
                <a:latin typeface="Calibri"/>
              </a:rPr>
              <a:t>Camera moves closer along view direction (18% step, respects minDistance=2)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74519"/>
            <a:ext cx="5897880" cy="841248"/>
          </a:xfrm>
          <a:prstGeom prst="rect">
            <a:avLst/>
          </a:prstGeom>
          <a:solidFill>
            <a:srgbClr val="07071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72200" y="1984248"/>
            <a:ext cx="594360" cy="5943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050510"/>
                </a:solidFill>
              </a:rPr>
              <a:t>🔍−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1911095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Zoom 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225856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FF"/>
                </a:solidFill>
                <a:latin typeface="Calibri"/>
              </a:rPr>
              <a:t>Camera moves farther along view direction (18% step, respects maxDistance=22)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2834640"/>
            <a:ext cx="5897880" cy="841248"/>
          </a:xfrm>
          <a:prstGeom prst="rect">
            <a:avLst/>
          </a:prstGeom>
          <a:solidFill>
            <a:srgbClr val="07071A"/>
          </a:solidFill>
          <a:ln w="12700">
            <a:solidFill>
              <a:srgbClr val="7B2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172200" y="2944368"/>
            <a:ext cx="594360" cy="594360"/>
          </a:xfrm>
          <a:prstGeom prst="ellipse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050510"/>
                </a:solidFill>
              </a:rPr>
              <a:t>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28712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B2FF7"/>
                </a:solidFill>
                <a:latin typeface="Calibri"/>
              </a:rPr>
              <a:t>Auto Rotate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32186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FF"/>
                </a:solidFill>
                <a:latin typeface="Calibri"/>
              </a:rPr>
              <a:t>OrbitControls.autoRotate=true, speed=1.5, button turns cyan when active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3794760"/>
            <a:ext cx="5897880" cy="841248"/>
          </a:xfrm>
          <a:prstGeom prst="rect">
            <a:avLst/>
          </a:prstGeom>
          <a:solidFill>
            <a:srgbClr val="07071A"/>
          </a:solidFill>
          <a:ln w="127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172200" y="3904488"/>
            <a:ext cx="594360" cy="594360"/>
          </a:xfrm>
          <a:prstGeom prst="ellipse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050510"/>
                </a:solidFill>
              </a:rPr>
              <a:t>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383133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A00"/>
                </a:solidFill>
                <a:latin typeface="Calibri"/>
              </a:rPr>
              <a:t>Reset Camera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417880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FF"/>
                </a:solidFill>
                <a:latin typeface="Calibri"/>
              </a:rPr>
              <a:t>Smooth lerp animation back to position (6,4,7), target (0,0,0) in 900ms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4754880"/>
            <a:ext cx="5897880" cy="841248"/>
          </a:xfrm>
          <a:prstGeom prst="rect">
            <a:avLst/>
          </a:prstGeom>
          <a:solidFill>
            <a:srgbClr val="07071A"/>
          </a:solidFill>
          <a:ln w="12700">
            <a:solidFill>
              <a:srgbClr val="FF2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72200" y="4864608"/>
            <a:ext cx="594360" cy="594360"/>
          </a:xfrm>
          <a:prstGeom prst="ellipse">
            <a:avLst/>
          </a:prstGeom>
          <a:solidFill>
            <a:srgbClr val="FF2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050510"/>
                </a:solidFill>
              </a:rPr>
              <a:t>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479145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2D95"/>
                </a:solidFill>
                <a:latin typeface="Calibri"/>
              </a:rPr>
              <a:t>Case Toggle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513892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FF"/>
                </a:solidFill>
                <a:latin typeface="Calibri"/>
              </a:rPr>
              <a:t>Rotates sidePanelGroup.rotation.y from 0 → −90° with 9% per-frame lerp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5715000"/>
            <a:ext cx="5897880" cy="841248"/>
          </a:xfrm>
          <a:prstGeom prst="rect">
            <a:avLst/>
          </a:prstGeom>
          <a:solidFill>
            <a:srgbClr val="07071A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172200" y="5824728"/>
            <a:ext cx="594360" cy="594360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050510"/>
                </a:solidFill>
              </a:rPr>
              <a:t>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575157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88"/>
                </a:solidFill>
                <a:latin typeface="Calibri"/>
              </a:rPr>
              <a:t>Fullscreen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609904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FF"/>
                </a:solidFill>
                <a:latin typeface="Calibri"/>
              </a:rPr>
              <a:t>Native requestFullscreen() API on #page-simulator, auto-resize on exit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6126480"/>
            <a:ext cx="5486400" cy="594360"/>
          </a:xfrm>
          <a:prstGeom prst="rect">
            <a:avLst/>
          </a:prstGeom>
          <a:solidFill>
            <a:srgbClr val="0A0A00"/>
          </a:solidFill>
          <a:ln w="127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153912"/>
            <a:ext cx="5257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AA00"/>
                </a:solidFill>
                <a:latin typeface="Calibri"/>
              </a:rPr>
              <a:t>🔧  CDN Fix: Three.js + OrbitControls migrated from cdnjs/unpkg → cdn.jsdelivr.net/npm/three@0.128.0 to resolve the OrbitControls loading failure that made all controls non-functional.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BB"/>
                </a:solidFill>
                <a:latin typeface="Calibr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INTERACTIVE 3D HARDWARE COMPONENTS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1274552" cy="16459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lick_feedback_17734744861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0"/>
            <a:ext cx="5943600" cy="53035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80760" y="914400"/>
            <a:ext cx="3017520" cy="914400"/>
          </a:xfrm>
          <a:prstGeom prst="rect">
            <a:avLst/>
          </a:prstGeom>
          <a:solidFill>
            <a:srgbClr val="08081C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95097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ATX Motherboard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298448"/>
            <a:ext cx="2880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0FF"/>
                </a:solidFill>
                <a:latin typeface="Calibri"/>
              </a:rPr>
              <a:t>Green PCB, CPU socket, 4 RAM slots, 3 PCIe slots, VRM heatsinks, M.2 slot, chipset, I/O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1938528"/>
            <a:ext cx="3017520" cy="914400"/>
          </a:xfrm>
          <a:prstGeom prst="rect">
            <a:avLst/>
          </a:prstGeom>
          <a:solidFill>
            <a:srgbClr val="08081C"/>
          </a:solidFill>
          <a:ln w="127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97510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A00"/>
                </a:solidFill>
                <a:latin typeface="Calibri"/>
              </a:rPr>
              <a:t>Processor (CPU)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322576"/>
            <a:ext cx="2880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0FF"/>
                </a:solidFill>
                <a:latin typeface="Calibri"/>
              </a:rPr>
              <a:t>Silver IHS with gold triangle marker, gold contact pads, blue laser-etched label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2962656"/>
            <a:ext cx="3017520" cy="914400"/>
          </a:xfrm>
          <a:prstGeom prst="rect">
            <a:avLst/>
          </a:prstGeom>
          <a:solidFill>
            <a:srgbClr val="08081C"/>
          </a:solidFill>
          <a:ln w="12700">
            <a:solidFill>
              <a:srgbClr val="7B2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299923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2FF7"/>
                </a:solidFill>
                <a:latin typeface="Calibri"/>
              </a:rPr>
              <a:t>DDR5 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346704"/>
            <a:ext cx="2880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0FF"/>
                </a:solidFill>
                <a:latin typeface="Calibri"/>
              </a:rPr>
              <a:t>2 sticks, purple RGB bar on top, heat spreader fins, gold bottom contacts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3986784"/>
            <a:ext cx="3017520" cy="914400"/>
          </a:xfrm>
          <a:prstGeom prst="rect">
            <a:avLst/>
          </a:prstGeom>
          <a:solidFill>
            <a:srgbClr val="08081C"/>
          </a:solidFill>
          <a:ln w="12700">
            <a:solidFill>
              <a:srgbClr val="FF2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0233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2D95"/>
                </a:solidFill>
                <a:latin typeface="Calibri"/>
              </a:rPr>
              <a:t>GPU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4370832"/>
            <a:ext cx="2880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0FF"/>
                </a:solidFill>
                <a:latin typeface="Calibri"/>
              </a:rPr>
              <a:t>3-fan shroud with spinning blades, RGB strip, backplate, PCIe bracket + connector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5010912"/>
            <a:ext cx="3017520" cy="914400"/>
          </a:xfrm>
          <a:prstGeom prst="rect">
            <a:avLst/>
          </a:prstGeom>
          <a:solidFill>
            <a:srgbClr val="08081C"/>
          </a:solidFill>
          <a:ln w="1270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504748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800"/>
                </a:solidFill>
                <a:latin typeface="Calibri"/>
              </a:rPr>
              <a:t>PSU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5394960"/>
            <a:ext cx="2880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0FF"/>
                </a:solidFill>
                <a:latin typeface="Calibri"/>
              </a:rPr>
              <a:t>Orange-labelled box, fan grill ring, modular cable sockets on rear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35440" y="914400"/>
            <a:ext cx="3017520" cy="914400"/>
          </a:xfrm>
          <a:prstGeom prst="rect">
            <a:avLst/>
          </a:prstGeom>
          <a:solidFill>
            <a:srgbClr val="08081C"/>
          </a:solidFill>
          <a:ln w="127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95097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A00"/>
                </a:solidFill>
                <a:latin typeface="Calibri"/>
              </a:rPr>
              <a:t>NVMe SSD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1298448"/>
            <a:ext cx="2880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0FF"/>
                </a:solidFill>
                <a:latin typeface="Calibri"/>
              </a:rPr>
              <a:t>M.2 form factor, NAND flash chips, controller chip, M-key connector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35440" y="1938528"/>
            <a:ext cx="3017520" cy="914400"/>
          </a:xfrm>
          <a:prstGeom prst="rect">
            <a:avLst/>
          </a:prstGeom>
          <a:solidFill>
            <a:srgbClr val="08081C"/>
          </a:solidFill>
          <a:ln w="1270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0" y="197510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800"/>
                </a:solidFill>
                <a:latin typeface="Calibri"/>
              </a:rPr>
              <a:t>HDD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2322576"/>
            <a:ext cx="2880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0FF"/>
                </a:solidFill>
                <a:latin typeface="Calibri"/>
              </a:rPr>
              <a:t>Full-height drive, spinning platter edge, SATA port, label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35440" y="2962656"/>
            <a:ext cx="3017520" cy="914400"/>
          </a:xfrm>
          <a:prstGeom prst="rect">
            <a:avLst/>
          </a:prstGeom>
          <a:solidFill>
            <a:srgbClr val="08081C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0" y="299923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CPU Cooler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3346704"/>
            <a:ext cx="2880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0FF"/>
                </a:solidFill>
                <a:latin typeface="Calibri"/>
              </a:rPr>
              <a:t>11 aluminum fins, 3 copper heat pipes, base plate, fan frame + spinning blades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35440" y="3986784"/>
            <a:ext cx="3017520" cy="914400"/>
          </a:xfrm>
          <a:prstGeom prst="rect">
            <a:avLst/>
          </a:prstGeom>
          <a:solidFill>
            <a:srgbClr val="08081C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0" y="40233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Case Fan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4370832"/>
            <a:ext cx="2880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0FF"/>
                </a:solidFill>
                <a:latin typeface="Calibri"/>
              </a:rPr>
              <a:t>Square frame, 9 blades, ARGB ring glow, 4 corner mounts, hub in configured colour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BB"/>
                </a:solidFill>
                <a:latin typeface="Calibr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ASSEMBLY SIMULATION — Snap-In Animation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1274552" cy="16459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lick_feedback_17734744716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0"/>
            <a:ext cx="5669280" cy="502920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6217920" y="914400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50510"/>
                </a:solidFill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6812280" y="914400"/>
            <a:ext cx="2651760" cy="1234440"/>
          </a:xfrm>
          <a:prstGeom prst="rect">
            <a:avLst/>
          </a:prstGeom>
          <a:solidFill>
            <a:srgbClr val="07071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31152" y="941832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User Clicks
Component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31152" y="1463040"/>
            <a:ext cx="2514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0E0FF"/>
                </a:solidFill>
                <a:latin typeface="Calibri"/>
              </a:rPr>
              <a:t>Sidebar or 3D mesh click triggers handleComponentClick(id)</a:t>
            </a:r>
          </a:p>
        </p:txBody>
      </p:sp>
      <p:sp>
        <p:nvSpPr>
          <p:cNvPr id="11" name="Oval 10"/>
          <p:cNvSpPr/>
          <p:nvPr/>
        </p:nvSpPr>
        <p:spPr>
          <a:xfrm>
            <a:off x="6217920" y="2286000"/>
            <a:ext cx="502920" cy="502920"/>
          </a:xfrm>
          <a:prstGeom prst="ellipse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50510"/>
                </a:solidFill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12280" y="2286000"/>
            <a:ext cx="2651760" cy="1234440"/>
          </a:xfrm>
          <a:prstGeom prst="rect">
            <a:avLst/>
          </a:prstGeom>
          <a:solidFill>
            <a:srgbClr val="07071A"/>
          </a:solidFill>
          <a:ln w="12700">
            <a:solidFill>
              <a:srgbClr val="7B2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31152" y="2313432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2FF7"/>
                </a:solidFill>
                <a:latin typeface="Calibri"/>
              </a:rPr>
              <a:t>Check Guided
Mode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1152" y="2834640"/>
            <a:ext cx="2514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0E0FF"/>
                </a:solidFill>
                <a:latin typeface="Calibri"/>
              </a:rPr>
              <a:t>In guided mode, verifies correct order; shows warning if wrong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0" y="3657600"/>
            <a:ext cx="502920" cy="502920"/>
          </a:xfrm>
          <a:prstGeom prst="ellipse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50510"/>
                </a:solidFill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12280" y="3657600"/>
            <a:ext cx="2651760" cy="1234440"/>
          </a:xfrm>
          <a:prstGeom prst="rect">
            <a:avLst/>
          </a:prstGeom>
          <a:solidFill>
            <a:srgbClr val="07071A"/>
          </a:solidFill>
          <a:ln w="127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31152" y="3685032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A00"/>
                </a:solidFill>
                <a:latin typeface="Calibri"/>
              </a:rPr>
              <a:t>Build Fresh
3D Mesh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31152" y="4206240"/>
            <a:ext cx="2514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0E0FF"/>
                </a:solidFill>
                <a:latin typeface="Calibri"/>
              </a:rPr>
              <a:t>_buildMesh(comp) creates a new high-detail Three.js Group</a:t>
            </a:r>
          </a:p>
        </p:txBody>
      </p:sp>
      <p:sp>
        <p:nvSpPr>
          <p:cNvPr id="19" name="Oval 18"/>
          <p:cNvSpPr/>
          <p:nvPr/>
        </p:nvSpPr>
        <p:spPr>
          <a:xfrm>
            <a:off x="6217920" y="5029200"/>
            <a:ext cx="502920" cy="502920"/>
          </a:xfrm>
          <a:prstGeom prst="ellipse">
            <a:avLst/>
          </a:prstGeom>
          <a:solidFill>
            <a:srgbClr val="FF2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50510"/>
                </a:solidFill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12280" y="5029200"/>
            <a:ext cx="2651760" cy="1234440"/>
          </a:xfrm>
          <a:prstGeom prst="rect">
            <a:avLst/>
          </a:prstGeom>
          <a:solidFill>
            <a:srgbClr val="07071A"/>
          </a:solidFill>
          <a:ln w="12700">
            <a:solidFill>
              <a:srgbClr val="FF2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31152" y="5056632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2D95"/>
                </a:solidFill>
                <a:latin typeface="Calibri"/>
              </a:rPr>
              <a:t>Set Start
Position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1152" y="5577840"/>
            <a:ext cx="2514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0E0FF"/>
                </a:solidFill>
                <a:latin typeface="Calibri"/>
              </a:rPr>
              <a:t>Places mesh at slotWorld.y + 5 (above case) with full scale</a:t>
            </a:r>
          </a:p>
        </p:txBody>
      </p:sp>
      <p:sp>
        <p:nvSpPr>
          <p:cNvPr id="23" name="Oval 22"/>
          <p:cNvSpPr/>
          <p:nvPr/>
        </p:nvSpPr>
        <p:spPr>
          <a:xfrm>
            <a:off x="9189720" y="914400"/>
            <a:ext cx="502920" cy="502920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50510"/>
                </a:solidFill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84080" y="914400"/>
            <a:ext cx="2651760" cy="1234440"/>
          </a:xfrm>
          <a:prstGeom prst="rect">
            <a:avLst/>
          </a:prstGeom>
          <a:solidFill>
            <a:srgbClr val="07071A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02952" y="941832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  <a:latin typeface="Calibri"/>
              </a:rPr>
              <a:t>Drop Animation
900ms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02952" y="1463040"/>
            <a:ext cx="2514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0E0FF"/>
                </a:solidFill>
                <a:latin typeface="Calibri"/>
              </a:rPr>
              <a:t>Cubic ease-in-out lerp: y drops, rotation.y sweeps, scale 0.4→1.0</a:t>
            </a:r>
          </a:p>
        </p:txBody>
      </p:sp>
      <p:sp>
        <p:nvSpPr>
          <p:cNvPr id="27" name="Oval 26"/>
          <p:cNvSpPr/>
          <p:nvPr/>
        </p:nvSpPr>
        <p:spPr>
          <a:xfrm>
            <a:off x="9189720" y="2286000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50510"/>
                </a:solidFill>
              </a:rPr>
              <a:t>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84080" y="2286000"/>
            <a:ext cx="2651760" cy="1234440"/>
          </a:xfrm>
          <a:prstGeom prst="rect">
            <a:avLst/>
          </a:prstGeom>
          <a:solidFill>
            <a:srgbClr val="07071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02952" y="2313432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Snap &amp; Flash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02952" y="2834640"/>
            <a:ext cx="2514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0E0FF"/>
                </a:solidFill>
                <a:latin typeface="Calibri"/>
              </a:rPr>
              <a:t>Green emissive flash for 700ms on installed mesh</a:t>
            </a:r>
          </a:p>
        </p:txBody>
      </p:sp>
      <p:sp>
        <p:nvSpPr>
          <p:cNvPr id="31" name="Oval 30"/>
          <p:cNvSpPr/>
          <p:nvPr/>
        </p:nvSpPr>
        <p:spPr>
          <a:xfrm>
            <a:off x="9189720" y="365760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50510"/>
                </a:solidFill>
              </a:rPr>
              <a:t>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784080" y="3657600"/>
            <a:ext cx="2651760" cy="1234440"/>
          </a:xfrm>
          <a:prstGeom prst="rect">
            <a:avLst/>
          </a:prstGeom>
          <a:solidFill>
            <a:srgbClr val="07071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02952" y="3685032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Update UI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02952" y="4206240"/>
            <a:ext cx="2514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0E0FF"/>
                </a:solidFill>
                <a:latin typeface="Calibri"/>
              </a:rPr>
              <a:t>Sidebar: green checkmark, progress bar %, Build Guide advances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6035040"/>
            <a:ext cx="5669280" cy="658368"/>
          </a:xfrm>
          <a:prstGeom prst="rect">
            <a:avLst/>
          </a:prstGeom>
          <a:solidFill>
            <a:srgbClr val="001A0A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062472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FF88"/>
                </a:solidFill>
                <a:latin typeface="Calibri"/>
              </a:rPr>
              <a:t>✅  Visual Feedback Chain:
Canvas border flashes green (animation: assembly-success 0.7s) → Sidebar slot turns green with 'Installed ✓' → Right panel shows component specs → Build progress bar updates.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BB"/>
                </a:solidFill>
                <a:latin typeface="Calibr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HOVER HIGHLIGHTS, TOOLTIPS &amp; RAYCASTING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1274552" cy="16459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lick_feedback_17734744861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0"/>
            <a:ext cx="5943600" cy="53035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92240" y="914400"/>
            <a:ext cx="5486400" cy="2011680"/>
          </a:xfrm>
          <a:prstGeom prst="rect">
            <a:avLst/>
          </a:prstGeom>
          <a:solidFill>
            <a:srgbClr val="0C0C08"/>
          </a:solidFill>
          <a:ln w="127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960120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AA00"/>
                </a:solidFill>
                <a:latin typeface="Calibri"/>
              </a:rPr>
              <a:t>🧿  Three.js Raycasting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1371600"/>
            <a:ext cx="52578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50" b="1">
                <a:solidFill>
                  <a:srgbClr val="FFAA00"/>
                </a:solidFill>
              </a:rPr>
              <a:t>▸ </a:t>
            </a:r>
            <a:r>
              <a:rPr sz="1150">
                <a:solidFill>
                  <a:srgbClr val="E0E0FF"/>
                </a:solidFill>
                <a:latin typeface="Calibri"/>
              </a:rPr>
              <a:t>Mouse position normalized to NDC coords (−1 to +1)</a:t>
            </a:r>
          </a:p>
          <a:p>
            <a:pPr>
              <a:spcBef>
                <a:spcPts val="300"/>
              </a:spcBef>
            </a:pPr>
            <a:r>
              <a:rPr sz="1150" b="1">
                <a:solidFill>
                  <a:srgbClr val="FFAA00"/>
                </a:solidFill>
              </a:rPr>
              <a:t>▸ </a:t>
            </a:r>
            <a:r>
              <a:rPr sz="1150">
                <a:solidFill>
                  <a:srgbClr val="E0E0FF"/>
                </a:solidFill>
                <a:latin typeface="Calibri"/>
              </a:rPr>
              <a:t>raycaster.setFromCamera(mouse, camera) casts a ray</a:t>
            </a:r>
          </a:p>
          <a:p>
            <a:pPr>
              <a:spcBef>
                <a:spcPts val="300"/>
              </a:spcBef>
            </a:pPr>
            <a:r>
              <a:rPr sz="1150" b="1">
                <a:solidFill>
                  <a:srgbClr val="FFAA00"/>
                </a:solidFill>
              </a:rPr>
              <a:t>▸ </a:t>
            </a:r>
            <a:r>
              <a:rPr sz="1150">
                <a:solidFill>
                  <a:srgbClr val="E0E0FF"/>
                </a:solidFill>
                <a:latin typeface="Calibri"/>
              </a:rPr>
              <a:t>intersectObjects(installedMeshes, recursive=true)</a:t>
            </a:r>
          </a:p>
          <a:p>
            <a:pPr>
              <a:spcBef>
                <a:spcPts val="300"/>
              </a:spcBef>
            </a:pPr>
            <a:r>
              <a:rPr sz="1150" b="1">
                <a:solidFill>
                  <a:srgbClr val="FFAA00"/>
                </a:solidFill>
              </a:rPr>
              <a:t>▸ </a:t>
            </a:r>
            <a:r>
              <a:rPr sz="1150">
                <a:solidFill>
                  <a:srgbClr val="E0E0FF"/>
                </a:solidFill>
                <a:latin typeface="Calibri"/>
              </a:rPr>
              <a:t>Traverses up parent chain to find root componentId</a:t>
            </a:r>
          </a:p>
          <a:p>
            <a:pPr>
              <a:spcBef>
                <a:spcPts val="300"/>
              </a:spcBef>
            </a:pPr>
            <a:r>
              <a:rPr sz="1150" b="1">
                <a:solidFill>
                  <a:srgbClr val="FFAA00"/>
                </a:solidFill>
              </a:rPr>
              <a:t>▸ </a:t>
            </a:r>
            <a:r>
              <a:rPr sz="1150">
                <a:solidFill>
                  <a:srgbClr val="E0E0FF"/>
                </a:solidFill>
                <a:latin typeface="Calibri"/>
              </a:rPr>
              <a:t>mousemove: cyan glow + DOM tooltip shown at cursor</a:t>
            </a:r>
          </a:p>
          <a:p>
            <a:pPr>
              <a:spcBef>
                <a:spcPts val="300"/>
              </a:spcBef>
            </a:pPr>
            <a:r>
              <a:rPr sz="1150" b="1">
                <a:solidFill>
                  <a:srgbClr val="FFAA00"/>
                </a:solidFill>
              </a:rPr>
              <a:t>▸ </a:t>
            </a:r>
            <a:r>
              <a:rPr sz="1150">
                <a:solidFill>
                  <a:srgbClr val="E0E0FF"/>
                </a:solidFill>
                <a:latin typeface="Calibri"/>
              </a:rPr>
              <a:t>click: triggers _simClickCallback → shows specs panel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3063240"/>
            <a:ext cx="5486400" cy="1691640"/>
          </a:xfrm>
          <a:prstGeom prst="rect">
            <a:avLst/>
          </a:prstGeom>
          <a:solidFill>
            <a:srgbClr val="0C0808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3108960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💡  Hover Highlight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20440"/>
            <a:ext cx="5257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50" b="1">
                <a:solidFill>
                  <a:srgbClr val="00D4FF"/>
                </a:solidFill>
              </a:rPr>
              <a:t>▸ </a:t>
            </a:r>
            <a:r>
              <a:rPr sz="1150">
                <a:solidFill>
                  <a:srgbClr val="E0E0FF"/>
                </a:solidFill>
                <a:latin typeface="Calibri"/>
              </a:rPr>
              <a:t>_setEmissive(mesh, 0x00d4ff, 0.65) recursively sets all children</a:t>
            </a:r>
          </a:p>
          <a:p>
            <a:pPr>
              <a:spcBef>
                <a:spcPts val="300"/>
              </a:spcBef>
            </a:pPr>
            <a:r>
              <a:rPr sz="1150" b="1">
                <a:solidFill>
                  <a:srgbClr val="00D4FF"/>
                </a:solidFill>
              </a:rPr>
              <a:t>▸ </a:t>
            </a:r>
            <a:r>
              <a:rPr sz="1150">
                <a:solidFill>
                  <a:srgbClr val="E0E0FF"/>
                </a:solidFill>
                <a:latin typeface="Calibri"/>
              </a:rPr>
              <a:t>Previous hover mesh de-highlighted before new one is set</a:t>
            </a:r>
          </a:p>
          <a:p>
            <a:pPr>
              <a:spcBef>
                <a:spcPts val="300"/>
              </a:spcBef>
            </a:pPr>
            <a:r>
              <a:rPr sz="1150" b="1">
                <a:solidFill>
                  <a:srgbClr val="00D4FF"/>
                </a:solidFill>
              </a:rPr>
              <a:t>▸ </a:t>
            </a:r>
            <a:r>
              <a:rPr sz="1150">
                <a:solidFill>
                  <a:srgbClr val="E0E0FF"/>
                </a:solidFill>
                <a:latin typeface="Calibri"/>
              </a:rPr>
              <a:t>Cursor changes to 'pointer' on hover, '' (default) on miss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4892040"/>
            <a:ext cx="5486400" cy="1371600"/>
          </a:xfrm>
          <a:prstGeom prst="rect">
            <a:avLst/>
          </a:prstGeom>
          <a:solidFill>
            <a:srgbClr val="08080C"/>
          </a:solidFill>
          <a:ln w="12700">
            <a:solidFill>
              <a:srgbClr val="7B2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4937760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B2FF7"/>
                </a:solidFill>
                <a:latin typeface="Calibri"/>
              </a:rPr>
              <a:t>💬  Floating DOM Tooltip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5349240"/>
            <a:ext cx="5257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50" b="1">
                <a:solidFill>
                  <a:srgbClr val="7B2FF7"/>
                </a:solidFill>
              </a:rPr>
              <a:t>▸ </a:t>
            </a:r>
            <a:r>
              <a:rPr sz="1150">
                <a:solidFill>
                  <a:srgbClr val="E0E0FF"/>
                </a:solidFill>
                <a:latin typeface="Calibri"/>
              </a:rPr>
              <a:t>Position: fixed DOM element, pointer-events: none</a:t>
            </a:r>
          </a:p>
          <a:p>
            <a:pPr>
              <a:spcBef>
                <a:spcPts val="300"/>
              </a:spcBef>
            </a:pPr>
            <a:r>
              <a:rPr sz="1150" b="1">
                <a:solidFill>
                  <a:srgbClr val="7B2FF7"/>
                </a:solidFill>
              </a:rPr>
              <a:t>▸ </a:t>
            </a:r>
            <a:r>
              <a:rPr sz="1150">
                <a:solidFill>
                  <a:srgbClr val="E0E0FF"/>
                </a:solidFill>
                <a:latin typeface="Calibri"/>
              </a:rPr>
              <a:t>Shows: Component Name (cyan) + 1-line description</a:t>
            </a:r>
          </a:p>
          <a:p>
            <a:pPr>
              <a:spcBef>
                <a:spcPts val="300"/>
              </a:spcBef>
            </a:pPr>
            <a:r>
              <a:rPr sz="1150" b="1">
                <a:solidFill>
                  <a:srgbClr val="7B2FF7"/>
                </a:solidFill>
              </a:rPr>
              <a:t>▸ </a:t>
            </a:r>
            <a:r>
              <a:rPr sz="1150">
                <a:solidFill>
                  <a:srgbClr val="E0E0FF"/>
                </a:solidFill>
                <a:latin typeface="Calibri"/>
              </a:rPr>
              <a:t>Glassmorphism: backdrop-filter blur + cyan border glow</a:t>
            </a:r>
          </a:p>
          <a:p>
            <a:pPr>
              <a:spcBef>
                <a:spcPts val="300"/>
              </a:spcBef>
            </a:pPr>
            <a:r>
              <a:rPr sz="1150" b="1">
                <a:solidFill>
                  <a:srgbClr val="7B2FF7"/>
                </a:solidFill>
              </a:rPr>
              <a:t>▸ </a:t>
            </a:r>
            <a:r>
              <a:rPr sz="1150">
                <a:solidFill>
                  <a:srgbClr val="E0E0FF"/>
                </a:solidFill>
                <a:latin typeface="Calibri"/>
              </a:rPr>
              <a:t>Opacity transitions: 0 → 1 on hover, 1 → 0 on leave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BB"/>
                </a:solidFill>
                <a:latin typeface="Calibr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TECHNOLOGY STACK &amp;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1274552" cy="16459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3703320" cy="1737360"/>
          </a:xfrm>
          <a:prstGeom prst="rect">
            <a:avLst/>
          </a:prstGeom>
          <a:solidFill>
            <a:srgbClr val="08081C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914400"/>
            <a:ext cx="3703320" cy="3474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95097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0510"/>
                </a:solidFill>
                <a:latin typeface="Calibri"/>
              </a:rPr>
              <a:t>Three.js r128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53312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FF"/>
                </a:solidFill>
                <a:latin typeface="Calibri"/>
              </a:rPr>
              <a:t>3D engine
(WebGL renderer, Scene,
Camera, Geometry, Material)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914400"/>
            <a:ext cx="3703320" cy="1737360"/>
          </a:xfrm>
          <a:prstGeom prst="rect">
            <a:avLst/>
          </a:prstGeom>
          <a:solidFill>
            <a:srgbClr val="08081C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914400"/>
            <a:ext cx="3703320" cy="3474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95097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0510"/>
                </a:solidFill>
                <a:latin typeface="Calibri"/>
              </a:rPr>
              <a:t>OrbitControls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353312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FF"/>
                </a:solidFill>
                <a:latin typeface="Calibri"/>
              </a:rPr>
              <a:t>Camera interaction
(rotate, zoom, pan,
damping, autoRotate)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914400"/>
            <a:ext cx="3703320" cy="1737360"/>
          </a:xfrm>
          <a:prstGeom prst="rect">
            <a:avLst/>
          </a:prstGeom>
          <a:solidFill>
            <a:srgbClr val="08081C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914400"/>
            <a:ext cx="3703320" cy="34747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95097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0510"/>
                </a:solidFill>
                <a:latin typeface="Calibri"/>
              </a:rPr>
              <a:t>HTML5 / CSS3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353312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FF"/>
                </a:solidFill>
                <a:latin typeface="Calibri"/>
              </a:rPr>
              <a:t>Single-page app
(5 pages, glassmorphism,
CSS custom properties)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834640"/>
            <a:ext cx="3703320" cy="1737360"/>
          </a:xfrm>
          <a:prstGeom prst="rect">
            <a:avLst/>
          </a:prstGeom>
          <a:solidFill>
            <a:srgbClr val="08081C"/>
          </a:solidFill>
          <a:ln w="12700">
            <a:solidFill>
              <a:srgbClr val="7B2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2834640"/>
            <a:ext cx="3703320" cy="347472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87121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0510"/>
                </a:solidFill>
                <a:latin typeface="Calibri"/>
              </a:rPr>
              <a:t>Vanilla JavaScript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273552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FF"/>
                </a:solidFill>
                <a:latin typeface="Calibri"/>
              </a:rPr>
              <a:t>No framework
(ES6 classes, requestAnimationFrame,
IntersectionObserver)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2834640"/>
            <a:ext cx="3703320" cy="1737360"/>
          </a:xfrm>
          <a:prstGeom prst="rect">
            <a:avLst/>
          </a:prstGeom>
          <a:solidFill>
            <a:srgbClr val="08081C"/>
          </a:solidFill>
          <a:ln w="12700">
            <a:solidFill>
              <a:srgbClr val="FF2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2834640"/>
            <a:ext cx="3703320" cy="347472"/>
          </a:xfrm>
          <a:prstGeom prst="rect">
            <a:avLst/>
          </a:prstGeom>
          <a:solidFill>
            <a:srgbClr val="FF2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287121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0510"/>
                </a:solidFill>
                <a:latin typeface="Calibri"/>
              </a:rPr>
              <a:t>GSAP 3.12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3273552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FF"/>
                </a:solidFill>
                <a:latin typeface="Calibri"/>
              </a:rPr>
              <a:t>Scroll animations
(ScrollTrigger,
animate-in classes)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2834640"/>
            <a:ext cx="3703320" cy="1737360"/>
          </a:xfrm>
          <a:prstGeom prst="rect">
            <a:avLst/>
          </a:prstGeom>
          <a:solidFill>
            <a:srgbClr val="08081C"/>
          </a:solidFill>
          <a:ln w="127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2834640"/>
            <a:ext cx="3703320" cy="347472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287121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0510"/>
                </a:solidFill>
                <a:latin typeface="Calibri"/>
              </a:rPr>
              <a:t>CSS Glassmorphism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273552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FF"/>
                </a:solidFill>
                <a:latin typeface="Calibri"/>
              </a:rPr>
              <a:t>UI panels
(backdrop-filter, RGBA,
blur, border glow)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754880"/>
            <a:ext cx="3703320" cy="1737360"/>
          </a:xfrm>
          <a:prstGeom prst="rect">
            <a:avLst/>
          </a:prstGeom>
          <a:solidFill>
            <a:srgbClr val="08081C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4754880"/>
            <a:ext cx="3703320" cy="3474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79145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0510"/>
                </a:solidFill>
                <a:latin typeface="Calibri"/>
              </a:rPr>
              <a:t>Web Fullscreen 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193792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FF"/>
                </a:solidFill>
                <a:latin typeface="Calibri"/>
              </a:rPr>
              <a:t>requestFullscreen()
webkitRequestFullscreen()
auto-resize on exit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97680" y="4754880"/>
            <a:ext cx="3703320" cy="1737360"/>
          </a:xfrm>
          <a:prstGeom prst="rect">
            <a:avLst/>
          </a:prstGeom>
          <a:solidFill>
            <a:srgbClr val="08081C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97680" y="4754880"/>
            <a:ext cx="3703320" cy="34747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89120" y="479145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0510"/>
                </a:solidFill>
                <a:latin typeface="Calibri"/>
              </a:rPr>
              <a:t>localStorage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5193792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FF"/>
                </a:solidFill>
                <a:latin typeface="Calibri"/>
              </a:rPr>
              <a:t>Persistent state
(progress, achievements,
fastest build time)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4754880"/>
            <a:ext cx="3703320" cy="1737360"/>
          </a:xfrm>
          <a:prstGeom prst="rect">
            <a:avLst/>
          </a:prstGeom>
          <a:solidFill>
            <a:srgbClr val="08081C"/>
          </a:solidFill>
          <a:ln w="12700">
            <a:solidFill>
              <a:srgbClr val="7B2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29600" y="4754880"/>
            <a:ext cx="3703320" cy="347472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21040" y="479145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0510"/>
                </a:solidFill>
                <a:latin typeface="Calibri"/>
              </a:rPr>
              <a:t>Font Awesome 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5193792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FF"/>
                </a:solidFill>
                <a:latin typeface="Calibri"/>
              </a:rPr>
              <a:t>Icon set
(navigation, buttons,
component icons)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BB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FILE ARCHITECTURE  &amp;  CODE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1274552" cy="16459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5715000" cy="2651760"/>
          </a:xfrm>
          <a:prstGeom prst="rect">
            <a:avLst/>
          </a:prstGeom>
          <a:solidFill>
            <a:srgbClr val="07071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914400"/>
            <a:ext cx="5715000" cy="3840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96012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0510"/>
                </a:solidFill>
                <a:latin typeface="Calibri"/>
              </a:rPr>
              <a:t>📄 index.html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960120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50510"/>
                </a:solidFill>
                <a:latin typeface="Calibri"/>
              </a:rPr>
              <a:t>500 lines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389888"/>
            <a:ext cx="53949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 b="1">
                <a:solidFill>
                  <a:srgbClr val="00D4FF"/>
                </a:solidFill>
              </a:rPr>
              <a:t>▸ </a:t>
            </a:r>
            <a:r>
              <a:rPr sz="1100">
                <a:solidFill>
                  <a:srgbClr val="E0E0FF"/>
                </a:solidFill>
                <a:latin typeface="Calibri"/>
              </a:rPr>
              <a:t>Single-page application with 5 page &lt;main&gt; sections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00D4FF"/>
                </a:solidFill>
              </a:rPr>
              <a:t>▸ </a:t>
            </a:r>
            <a:r>
              <a:rPr sz="1100">
                <a:solidFill>
                  <a:srgbClr val="E0E0FF"/>
                </a:solidFill>
                <a:latin typeface="Calibri"/>
              </a:rPr>
              <a:t>Added: sim-case-toggle + sim-fullscreen buttons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00D4FF"/>
                </a:solidFill>
              </a:rPr>
              <a:t>▸ </a:t>
            </a:r>
            <a:r>
              <a:rPr sz="1100">
                <a:solidFill>
                  <a:srgbClr val="E0E0FF"/>
                </a:solidFill>
                <a:latin typeface="Calibri"/>
              </a:rPr>
              <a:t>Fixed: CDN from cdnjs/unpkg → cdn.jsdelivr.net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00D4FF"/>
                </a:solidFill>
              </a:rPr>
              <a:t>▸ </a:t>
            </a:r>
            <a:r>
              <a:rPr sz="1100">
                <a:solidFill>
                  <a:srgbClr val="E0E0FF"/>
                </a:solidFill>
                <a:latin typeface="Calibri"/>
              </a:rPr>
              <a:t>Step counter updated: / 9 (was / 20)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914400"/>
            <a:ext cx="5715000" cy="2651760"/>
          </a:xfrm>
          <a:prstGeom prst="rect">
            <a:avLst/>
          </a:prstGeom>
          <a:solidFill>
            <a:srgbClr val="07071A"/>
          </a:solidFill>
          <a:ln w="12700">
            <a:solidFill>
              <a:srgbClr val="7B2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914400"/>
            <a:ext cx="5715000" cy="384048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96012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0510"/>
                </a:solidFill>
                <a:latin typeface="Calibri"/>
              </a:rPr>
              <a:t>📜 simulator.js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960120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50510"/>
                </a:solidFill>
                <a:latin typeface="Calibri"/>
              </a:rPr>
              <a:t>956 lines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1389888"/>
            <a:ext cx="53949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 b="1">
                <a:solidFill>
                  <a:srgbClr val="7B2FF7"/>
                </a:solidFill>
              </a:rPr>
              <a:t>▸ </a:t>
            </a:r>
            <a:r>
              <a:rPr sz="1100">
                <a:solidFill>
                  <a:srgbClr val="E0E0FF"/>
                </a:solidFill>
                <a:latin typeface="Calibri"/>
              </a:rPr>
              <a:t>PCSimulator class — completely rewritten v3.0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7B2FF7"/>
                </a:solidFill>
              </a:rPr>
              <a:t>▸ </a:t>
            </a:r>
            <a:r>
              <a:rPr sz="1100">
                <a:solidFill>
                  <a:srgbClr val="E0E0FF"/>
                </a:solidFill>
                <a:latin typeface="Calibri"/>
              </a:rPr>
              <a:t>_buildPCCase(): 50-part 3D ATX case group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7B2FF7"/>
                </a:solidFill>
              </a:rPr>
              <a:t>▸ </a:t>
            </a:r>
            <a:r>
              <a:rPr sz="1100">
                <a:solidFill>
                  <a:srgbClr val="E0E0FF"/>
                </a:solidFill>
                <a:latin typeface="Calibri"/>
              </a:rPr>
              <a:t>_buildMesh(): 9 distinct component mesh builders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7B2FF7"/>
                </a:solidFill>
              </a:rPr>
              <a:t>▸ </a:t>
            </a:r>
            <a:r>
              <a:rPr sz="1100">
                <a:solidFill>
                  <a:srgbClr val="E0E0FF"/>
                </a:solidFill>
                <a:latin typeface="Calibri"/>
              </a:rPr>
              <a:t>toggleCasePanel(), zoomIn/Out(), resetView() with lerp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7B2FF7"/>
                </a:solidFill>
              </a:rPr>
              <a:t>▸ </a:t>
            </a:r>
            <a:r>
              <a:rPr sz="1100">
                <a:solidFill>
                  <a:srgbClr val="E0E0FF"/>
                </a:solidFill>
                <a:latin typeface="Calibri"/>
              </a:rPr>
              <a:t>Raycasting, hover, tooltip, install animation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94760"/>
            <a:ext cx="5715000" cy="2651760"/>
          </a:xfrm>
          <a:prstGeom prst="rect">
            <a:avLst/>
          </a:prstGeom>
          <a:solidFill>
            <a:srgbClr val="07071A"/>
          </a:solidFill>
          <a:ln w="12700">
            <a:solidFill>
              <a:srgbClr val="FF2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794760"/>
            <a:ext cx="5715000" cy="384048"/>
          </a:xfrm>
          <a:prstGeom prst="rect">
            <a:avLst/>
          </a:prstGeom>
          <a:solidFill>
            <a:srgbClr val="FF2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384048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0510"/>
                </a:solidFill>
                <a:latin typeface="Calibri"/>
              </a:rPr>
              <a:t>📜 app.js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840480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50510"/>
                </a:solidFill>
                <a:latin typeface="Calibri"/>
              </a:rPr>
              <a:t>1109 lines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4270248"/>
            <a:ext cx="53949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 b="1">
                <a:solidFill>
                  <a:srgbClr val="FF2D95"/>
                </a:solidFill>
              </a:rPr>
              <a:t>▸ </a:t>
            </a:r>
            <a:r>
              <a:rPr sz="1100">
                <a:solidFill>
                  <a:srgbClr val="E0E0FF"/>
                </a:solidFill>
                <a:latin typeface="Calibri"/>
              </a:rPr>
              <a:t>initSimulatorUI(): wires all 6 control buttons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FF2D95"/>
                </a:solidFill>
              </a:rPr>
              <a:t>▸ </a:t>
            </a:r>
            <a:r>
              <a:rPr sz="1100">
                <a:solidFill>
                  <a:srgbClr val="E0E0FF"/>
                </a:solidFill>
                <a:latin typeface="Calibri"/>
              </a:rPr>
              <a:t>Fullscreen API with change event + resize listener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FF2D95"/>
                </a:solidFill>
              </a:rPr>
              <a:t>▸ </a:t>
            </a:r>
            <a:r>
              <a:rPr sz="1100">
                <a:solidFill>
                  <a:srgbClr val="E0E0FF"/>
                </a:solidFill>
                <a:latin typeface="Calibri"/>
              </a:rPr>
              <a:t>Case toggle: icon + title + active-class swap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FF2D95"/>
                </a:solidFill>
              </a:rPr>
              <a:t>▸ </a:t>
            </a:r>
            <a:r>
              <a:rPr sz="1100">
                <a:solidFill>
                  <a:srgbClr val="E0E0FF"/>
                </a:solidFill>
                <a:latin typeface="Calibri"/>
              </a:rPr>
              <a:t>installComponent callback: canvas flash effect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FF2D95"/>
                </a:solidFill>
              </a:rPr>
              <a:t>▸ </a:t>
            </a:r>
            <a:r>
              <a:rPr sz="1100">
                <a:solidFill>
                  <a:srgbClr val="E0E0FF"/>
                </a:solidFill>
                <a:latin typeface="Calibri"/>
              </a:rPr>
              <a:t>Step total updated: 9 steps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794760"/>
            <a:ext cx="5715000" cy="2651760"/>
          </a:xfrm>
          <a:prstGeom prst="rect">
            <a:avLst/>
          </a:prstGeom>
          <a:solidFill>
            <a:srgbClr val="07071A"/>
          </a:solidFill>
          <a:ln w="127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3794760"/>
            <a:ext cx="5715000" cy="384048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384048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0510"/>
                </a:solidFill>
                <a:latin typeface="Calibri"/>
              </a:rPr>
              <a:t>🎨 style.css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3840480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50510"/>
                </a:solidFill>
                <a:latin typeface="Calibri"/>
              </a:rPr>
              <a:t>2000 lines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270248"/>
            <a:ext cx="53949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 b="1">
                <a:solidFill>
                  <a:srgbClr val="FFAA00"/>
                </a:solidFill>
              </a:rPr>
              <a:t>▸ </a:t>
            </a:r>
            <a:r>
              <a:rPr sz="1100">
                <a:solidFill>
                  <a:srgbClr val="E0E0FF"/>
                </a:solidFill>
                <a:latin typeface="Calibri"/>
              </a:rPr>
              <a:t>Enhanced .sim-ctrl-btn: hover slideX, glow shadow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FFAA00"/>
                </a:solidFill>
              </a:rPr>
              <a:t>▸ </a:t>
            </a:r>
            <a:r>
              <a:rPr sz="1100">
                <a:solidFill>
                  <a:srgbClr val="E0E0FF"/>
                </a:solidFill>
                <a:latin typeface="Calibri"/>
              </a:rPr>
              <a:t>#sim-case-toggle.active: pink/accent active state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FFAA00"/>
                </a:solidFill>
              </a:rPr>
              <a:t>▸ </a:t>
            </a:r>
            <a:r>
              <a:rPr sz="1100">
                <a:solidFill>
                  <a:srgbClr val="E0E0FF"/>
                </a:solidFill>
                <a:latin typeface="Calibri"/>
              </a:rPr>
              <a:t>#sim-fullscreen.active: purple active state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FFAA00"/>
                </a:solidFill>
              </a:rPr>
              <a:t>▸ </a:t>
            </a:r>
            <a:r>
              <a:rPr sz="1100">
                <a:solidFill>
                  <a:srgbClr val="E0E0FF"/>
                </a:solidFill>
                <a:latin typeface="Calibri"/>
              </a:rPr>
              <a:t>.sim-canvas-container::after: scanline overlay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FFAA00"/>
                </a:solidFill>
              </a:rPr>
              <a:t>▸ </a:t>
            </a:r>
            <a:r>
              <a:rPr sz="1100">
                <a:solidFill>
                  <a:srgbClr val="E0E0FF"/>
                </a:solidFill>
                <a:latin typeface="Calibri"/>
              </a:rPr>
              <a:t>@keyframes assembly-success: green border pulse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BB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2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UI / UX DESIGN SYSTEM — Futuristic Dark Theme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1274552" cy="16459"/>
          </a:xfrm>
          <a:prstGeom prst="rect">
            <a:avLst/>
          </a:prstGeom>
          <a:solidFill>
            <a:srgbClr val="FF2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Colour Palette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1188720" cy="548640"/>
          </a:xfrm>
          <a:prstGeom prst="rect">
            <a:avLst/>
          </a:prstGeom>
          <a:solidFill>
            <a:srgbClr val="00D4FF"/>
          </a:solidFill>
          <a:ln w="1270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847088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888BB"/>
                </a:solidFill>
                <a:latin typeface="Calibri"/>
              </a:rPr>
              <a:t>#00D4FF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84831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0E0FF"/>
                </a:solidFill>
                <a:latin typeface="Calibri"/>
              </a:rPr>
              <a:t>Primary Cyan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91640" y="1280160"/>
            <a:ext cx="1188720" cy="548640"/>
          </a:xfrm>
          <a:prstGeom prst="rect">
            <a:avLst/>
          </a:prstGeom>
          <a:solidFill>
            <a:srgbClr val="7B2FF7"/>
          </a:solidFill>
          <a:ln w="1270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91640" y="1847088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888BB"/>
                </a:solidFill>
                <a:latin typeface="Calibri"/>
              </a:rPr>
              <a:t>#7B2FF7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084831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0E0FF"/>
                </a:solidFill>
                <a:latin typeface="Calibri"/>
              </a:rPr>
              <a:t>Secondary Purple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1280160"/>
            <a:ext cx="1188720" cy="548640"/>
          </a:xfrm>
          <a:prstGeom prst="rect">
            <a:avLst/>
          </a:prstGeom>
          <a:solidFill>
            <a:srgbClr val="FF2D95"/>
          </a:solidFill>
          <a:ln w="1270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1847088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888BB"/>
                </a:solidFill>
                <a:latin typeface="Calibri"/>
              </a:rPr>
              <a:t>#FF2D95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084831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0E0FF"/>
                </a:solidFill>
                <a:latin typeface="Calibri"/>
              </a:rPr>
              <a:t>Accent Pink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240280"/>
            <a:ext cx="1188720" cy="548640"/>
          </a:xfrm>
          <a:prstGeom prst="rect">
            <a:avLst/>
          </a:prstGeom>
          <a:solidFill>
            <a:srgbClr val="00FF88"/>
          </a:solidFill>
          <a:ln w="1270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807208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888BB"/>
                </a:solidFill>
                <a:latin typeface="Calibri"/>
              </a:rPr>
              <a:t>#00FF88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044952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0E0FF"/>
                </a:solidFill>
                <a:latin typeface="Calibri"/>
              </a:rPr>
              <a:t>Success Green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91640" y="2240280"/>
            <a:ext cx="1188720" cy="548640"/>
          </a:xfrm>
          <a:prstGeom prst="rect">
            <a:avLst/>
          </a:prstGeom>
          <a:solidFill>
            <a:srgbClr val="FFAA00"/>
          </a:solidFill>
          <a:ln w="1270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91640" y="2807208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888BB"/>
                </a:solidFill>
                <a:latin typeface="Calibri"/>
              </a:rPr>
              <a:t>#FFAA00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044952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0E0FF"/>
                </a:solidFill>
                <a:latin typeface="Calibri"/>
              </a:rPr>
              <a:t>Warning Gold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2240280"/>
            <a:ext cx="1188720" cy="548640"/>
          </a:xfrm>
          <a:prstGeom prst="rect">
            <a:avLst/>
          </a:prstGeom>
          <a:solidFill>
            <a:srgbClr val="0A0A20"/>
          </a:solidFill>
          <a:ln w="1270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17520" y="2807208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888BB"/>
                </a:solidFill>
                <a:latin typeface="Calibri"/>
              </a:rPr>
              <a:t>#0A0A20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3044952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0E0FF"/>
                </a:solidFill>
                <a:latin typeface="Calibri"/>
              </a:rPr>
              <a:t>Surface Card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200400"/>
            <a:ext cx="1188720" cy="548640"/>
          </a:xfrm>
          <a:prstGeom prst="rect">
            <a:avLst/>
          </a:prstGeom>
          <a:solidFill>
            <a:srgbClr val="050510"/>
          </a:solidFill>
          <a:ln w="1270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767328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888BB"/>
                </a:solidFill>
                <a:latin typeface="Calibri"/>
              </a:rPr>
              <a:t>#050510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005072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0E0FF"/>
                </a:solidFill>
                <a:latin typeface="Calibri"/>
              </a:rPr>
              <a:t>Background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91640" y="3200400"/>
            <a:ext cx="1188720" cy="548640"/>
          </a:xfrm>
          <a:prstGeom prst="rect">
            <a:avLst/>
          </a:prstGeom>
          <a:solidFill>
            <a:srgbClr val="E0E0FF"/>
          </a:solidFill>
          <a:ln w="1270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91640" y="3767328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888BB"/>
                </a:solidFill>
                <a:latin typeface="Calibri"/>
              </a:rPr>
              <a:t>#E0E0FF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1640" y="4005072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0E0FF"/>
                </a:solidFill>
                <a:latin typeface="Calibri"/>
              </a:rPr>
              <a:t>Text Light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17520" y="3200400"/>
            <a:ext cx="1188720" cy="548640"/>
          </a:xfrm>
          <a:prstGeom prst="rect">
            <a:avLst/>
          </a:prstGeom>
          <a:solidFill>
            <a:srgbClr val="8888BB"/>
          </a:solidFill>
          <a:ln w="1270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17520" y="3767328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888BB"/>
                </a:solidFill>
                <a:latin typeface="Calibri"/>
              </a:rPr>
              <a:t>#8888BB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4005072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0E0FF"/>
                </a:solidFill>
                <a:latin typeface="Calibri"/>
              </a:rPr>
              <a:t>Text Dim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914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Typography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80560" y="1280160"/>
            <a:ext cx="3474720" cy="749808"/>
          </a:xfrm>
          <a:prstGeom prst="rect">
            <a:avLst/>
          </a:prstGeom>
          <a:solidFill>
            <a:srgbClr val="09091C"/>
          </a:solidFill>
          <a:ln w="12700">
            <a:solidFill>
              <a:srgbClr val="FF2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17720" y="131673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2D95"/>
                </a:solidFill>
                <a:latin typeface="Calibri"/>
              </a:rPr>
              <a:t>Orbitron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17720" y="16276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BB"/>
                </a:solidFill>
                <a:latin typeface="Calibri"/>
              </a:rPr>
              <a:t>Display / Logo / Headings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80560" y="2148839"/>
            <a:ext cx="3474720" cy="749808"/>
          </a:xfrm>
          <a:prstGeom prst="rect">
            <a:avLst/>
          </a:prstGeom>
          <a:solidFill>
            <a:srgbClr val="09091C"/>
          </a:solidFill>
          <a:ln w="12700">
            <a:solidFill>
              <a:srgbClr val="FF2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17720" y="2185415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2D95"/>
                </a:solidFill>
                <a:latin typeface="Inter"/>
              </a:rPr>
              <a:t>Inter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17720" y="24963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BB"/>
                </a:solidFill>
                <a:latin typeface="Calibri"/>
              </a:rPr>
              <a:t>Body / UI text / Paragraphs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80560" y="3017520"/>
            <a:ext cx="3474720" cy="749808"/>
          </a:xfrm>
          <a:prstGeom prst="rect">
            <a:avLst/>
          </a:prstGeom>
          <a:solidFill>
            <a:srgbClr val="09091C"/>
          </a:solidFill>
          <a:ln w="12700">
            <a:solidFill>
              <a:srgbClr val="FF2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17720" y="305409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2D95"/>
                </a:solidFill>
                <a:latin typeface="JetBrains Mono"/>
              </a:rPr>
              <a:t>JetBrains Mono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17720" y="3364991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BB"/>
                </a:solidFill>
                <a:latin typeface="Calibri"/>
              </a:rPr>
              <a:t>Code / Spec values / Mono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4160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Animations &amp; Effects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457200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▸ Case Panel Hinge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63240" y="4572000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FF"/>
                </a:solidFill>
                <a:latin typeface="Calibri"/>
              </a:rPr>
              <a:t>sidePanelGroup.rotation.y lerped 9% per frame → −90° open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503834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2FF7"/>
                </a:solidFill>
                <a:latin typeface="Calibri"/>
              </a:rPr>
              <a:t>▸ Component Drop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63240" y="5038344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FF"/>
                </a:solidFill>
                <a:latin typeface="Calibri"/>
              </a:rPr>
              <a:t>900ms cubic ease-in-out: y from +5 drop, rotation sweep, scale 0.4→1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550468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  <a:latin typeface="Calibri"/>
              </a:rPr>
              <a:t>▸ Green Install Flash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63240" y="5504688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FF"/>
                </a:solidFill>
                <a:latin typeface="Calibri"/>
              </a:rPr>
              <a:t>emissive 0x00ff88 intensity 1.0 → 0 in 700ms setTimeout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597103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A00"/>
                </a:solidFill>
                <a:latin typeface="Calibri"/>
              </a:rPr>
              <a:t>▸ Canvas Border Pulse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063240" y="5971032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FF"/>
                </a:solidFill>
                <a:latin typeface="Calibri"/>
              </a:rPr>
              <a:t>@keyframes assembly-success: inset box-shadow 0→0.8→0 in 700ms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7920" y="457200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2D95"/>
                </a:solidFill>
                <a:latin typeface="Calibri"/>
              </a:rPr>
              <a:t>▸ Button Hover Slide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15400" y="4572000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FF"/>
                </a:solidFill>
                <a:latin typeface="Calibri"/>
              </a:rPr>
              <a:t>translateX(−3px) + cyan glow shadow on .sim-ctrl-btn:hover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17920" y="503834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▸ Scanline Overlay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15400" y="5038344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FF"/>
                </a:solidFill>
                <a:latin typeface="Calibri"/>
              </a:rPr>
              <a:t>::after repeating-linear-gradient 4px cyan scanlines (1.2% opacity)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7920" y="550468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▸ RGB Glow Pulse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15400" y="5504688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FF"/>
                </a:solidFill>
                <a:latin typeface="Calibri"/>
              </a:rPr>
              <a:t>sin(t*2.2) drives emissiveIntensity of internal case neon strips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7920" y="597103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2FF7"/>
                </a:solidFill>
                <a:latin typeface="Calibri"/>
              </a:rPr>
              <a:t>▸ Fan Spin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15400" y="5971032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FF"/>
                </a:solidFill>
                <a:latin typeface="Calibri"/>
              </a:rPr>
              <a:t>rotation.z += 0.055 per frame on all _spinMeshes groups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97280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BB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BEFORE  vs  AFTER — Technical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1274552" cy="16459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14400"/>
            <a:ext cx="2743200" cy="411480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9601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50510"/>
                </a:solidFill>
                <a:latin typeface="Calibri"/>
              </a:rPr>
              <a:t>Feature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914400"/>
            <a:ext cx="4114800" cy="411480"/>
          </a:xfrm>
          <a:prstGeom prst="rect">
            <a:avLst/>
          </a:prstGeom>
          <a:solidFill>
            <a:srgbClr val="FF2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73552" y="96012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50510"/>
                </a:solidFill>
                <a:latin typeface="Calibri"/>
              </a:rPr>
              <a:t>BEFORE (v2.0)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914400"/>
            <a:ext cx="4526280" cy="41148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25512" y="960120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50510"/>
                </a:solidFill>
                <a:latin typeface="Calibri"/>
              </a:rPr>
              <a:t>AFTER (v3.0)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371600"/>
            <a:ext cx="2743200" cy="393192"/>
          </a:xfrm>
          <a:prstGeom prst="rect">
            <a:avLst/>
          </a:prstGeom>
          <a:solidFill>
            <a:srgbClr val="080818"/>
          </a:solidFill>
          <a:ln w="12700">
            <a:solidFill>
              <a:srgbClr val="20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1408176"/>
            <a:ext cx="2633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AA00"/>
                </a:solidFill>
                <a:latin typeface="Calibri"/>
              </a:rPr>
              <a:t>PC Case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1371600"/>
            <a:ext cx="4114800" cy="393192"/>
          </a:xfrm>
          <a:prstGeom prst="rect">
            <a:avLst/>
          </a:prstGeom>
          <a:solidFill>
            <a:srgbClr val="080818"/>
          </a:solidFill>
          <a:ln w="12700">
            <a:solidFill>
              <a:srgbClr val="20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64408" y="1408176"/>
            <a:ext cx="40050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6666"/>
                </a:solidFill>
                <a:latin typeface="Calibri"/>
              </a:rPr>
              <a:t>Wire-frame edges only, not interactive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52360" y="1371600"/>
            <a:ext cx="4526280" cy="393192"/>
          </a:xfrm>
          <a:prstGeom prst="rect">
            <a:avLst/>
          </a:prstGeom>
          <a:solidFill>
            <a:srgbClr val="080818"/>
          </a:solidFill>
          <a:ln w="12700">
            <a:solidFill>
              <a:srgbClr val="20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16368" y="1408176"/>
            <a:ext cx="4416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FF88"/>
                </a:solidFill>
                <a:latin typeface="Calibri"/>
              </a:rPr>
              <a:t>Full 50-part 3D model, glass panel opens on hinge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1801368"/>
            <a:ext cx="2743200" cy="393192"/>
          </a:xfrm>
          <a:prstGeom prst="rect">
            <a:avLst/>
          </a:prstGeom>
          <a:solidFill>
            <a:srgbClr val="060614"/>
          </a:solidFill>
          <a:ln w="12700">
            <a:solidFill>
              <a:srgbClr val="20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1837943"/>
            <a:ext cx="2633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AA00"/>
                </a:solidFill>
                <a:latin typeface="Calibri"/>
              </a:rPr>
              <a:t>OrbitControls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1801368"/>
            <a:ext cx="4114800" cy="393192"/>
          </a:xfrm>
          <a:prstGeom prst="rect">
            <a:avLst/>
          </a:prstGeom>
          <a:solidFill>
            <a:srgbClr val="060614"/>
          </a:solidFill>
          <a:ln w="12700">
            <a:solidFill>
              <a:srgbClr val="20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64408" y="1837943"/>
            <a:ext cx="40050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6666"/>
                </a:solidFill>
                <a:latin typeface="Calibri"/>
              </a:rPr>
              <a:t>Failed to load (unpkg CDN broken)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1801368"/>
            <a:ext cx="4526280" cy="393192"/>
          </a:xfrm>
          <a:prstGeom prst="rect">
            <a:avLst/>
          </a:prstGeom>
          <a:solidFill>
            <a:srgbClr val="060614"/>
          </a:solidFill>
          <a:ln w="12700">
            <a:solidFill>
              <a:srgbClr val="20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16368" y="1837943"/>
            <a:ext cx="4416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FF88"/>
                </a:solidFill>
                <a:latin typeface="Calibri"/>
              </a:rPr>
              <a:t>Fixed CDN → works perfectly, full damping + limits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231136"/>
            <a:ext cx="2743200" cy="393192"/>
          </a:xfrm>
          <a:prstGeom prst="rect">
            <a:avLst/>
          </a:prstGeom>
          <a:solidFill>
            <a:srgbClr val="080818"/>
          </a:solidFill>
          <a:ln w="12700">
            <a:solidFill>
              <a:srgbClr val="20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2267712"/>
            <a:ext cx="2633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AA00"/>
                </a:solidFill>
                <a:latin typeface="Calibri"/>
              </a:rPr>
              <a:t>Zoom Buttons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0" y="2231136"/>
            <a:ext cx="4114800" cy="393192"/>
          </a:xfrm>
          <a:prstGeom prst="rect">
            <a:avLst/>
          </a:prstGeom>
          <a:solidFill>
            <a:srgbClr val="080818"/>
          </a:solidFill>
          <a:ln w="12700">
            <a:solidFill>
              <a:srgbClr val="20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64408" y="2267712"/>
            <a:ext cx="40050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6666"/>
                </a:solidFill>
                <a:latin typeface="Calibri"/>
              </a:rPr>
              <a:t>Called camera.position.multiplyScalar()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52360" y="2231136"/>
            <a:ext cx="4526280" cy="393192"/>
          </a:xfrm>
          <a:prstGeom prst="rect">
            <a:avLst/>
          </a:prstGeom>
          <a:solidFill>
            <a:srgbClr val="080818"/>
          </a:solidFill>
          <a:ln w="12700">
            <a:solidFill>
              <a:srgbClr val="20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16368" y="2267712"/>
            <a:ext cx="4416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FF88"/>
                </a:solidFill>
                <a:latin typeface="Calibri"/>
              </a:rPr>
              <a:t>Proper dir-vector zoom with min/max clamping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2660904"/>
            <a:ext cx="2743200" cy="393192"/>
          </a:xfrm>
          <a:prstGeom prst="rect">
            <a:avLst/>
          </a:prstGeom>
          <a:solidFill>
            <a:srgbClr val="060614"/>
          </a:solidFill>
          <a:ln w="12700">
            <a:solidFill>
              <a:srgbClr val="20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2697480"/>
            <a:ext cx="2633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AA00"/>
                </a:solidFill>
                <a:latin typeface="Calibri"/>
              </a:rPr>
              <a:t>Reset Camera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0" y="2660904"/>
            <a:ext cx="4114800" cy="393192"/>
          </a:xfrm>
          <a:prstGeom prst="rect">
            <a:avLst/>
          </a:prstGeom>
          <a:solidFill>
            <a:srgbClr val="060614"/>
          </a:solidFill>
          <a:ln w="12700">
            <a:solidFill>
              <a:srgbClr val="20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64408" y="2697480"/>
            <a:ext cx="40050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6666"/>
                </a:solidFill>
                <a:latin typeface="Calibri"/>
              </a:rPr>
              <a:t>Instant jump to (8,6,8) — jarring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52360" y="2660904"/>
            <a:ext cx="4526280" cy="393192"/>
          </a:xfrm>
          <a:prstGeom prst="rect">
            <a:avLst/>
          </a:prstGeom>
          <a:solidFill>
            <a:srgbClr val="060614"/>
          </a:solidFill>
          <a:ln w="12700">
            <a:solidFill>
              <a:srgbClr val="20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16368" y="2697480"/>
            <a:ext cx="4416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FF88"/>
                </a:solidFill>
                <a:latin typeface="Calibri"/>
              </a:rPr>
              <a:t>Smooth 900ms lerp animation back to position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3090672"/>
            <a:ext cx="2743200" cy="393192"/>
          </a:xfrm>
          <a:prstGeom prst="rect">
            <a:avLst/>
          </a:prstGeom>
          <a:solidFill>
            <a:srgbClr val="080818"/>
          </a:solidFill>
          <a:ln w="12700">
            <a:solidFill>
              <a:srgbClr val="20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4048" y="3127248"/>
            <a:ext cx="2633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AA00"/>
                </a:solidFill>
                <a:latin typeface="Calibri"/>
              </a:rPr>
              <a:t>Fullscreen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0" y="3090672"/>
            <a:ext cx="4114800" cy="393192"/>
          </a:xfrm>
          <a:prstGeom prst="rect">
            <a:avLst/>
          </a:prstGeom>
          <a:solidFill>
            <a:srgbClr val="080818"/>
          </a:solidFill>
          <a:ln w="12700">
            <a:solidFill>
              <a:srgbClr val="20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64408" y="3127248"/>
            <a:ext cx="40050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6666"/>
                </a:solidFill>
                <a:latin typeface="Calibri"/>
              </a:rPr>
              <a:t>Button existed but had no handler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52360" y="3090672"/>
            <a:ext cx="4526280" cy="393192"/>
          </a:xfrm>
          <a:prstGeom prst="rect">
            <a:avLst/>
          </a:prstGeom>
          <a:solidFill>
            <a:srgbClr val="080818"/>
          </a:solidFill>
          <a:ln w="12700">
            <a:solidFill>
              <a:srgbClr val="20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16368" y="3127248"/>
            <a:ext cx="4416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FF88"/>
                </a:solidFill>
                <a:latin typeface="Calibri"/>
              </a:rPr>
              <a:t>Native Fullscreen API + resize + icon toggle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3520439"/>
            <a:ext cx="2743200" cy="393192"/>
          </a:xfrm>
          <a:prstGeom prst="rect">
            <a:avLst/>
          </a:prstGeom>
          <a:solidFill>
            <a:srgbClr val="060614"/>
          </a:solidFill>
          <a:ln w="12700">
            <a:solidFill>
              <a:srgbClr val="20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4048" y="3557015"/>
            <a:ext cx="2633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AA00"/>
                </a:solidFill>
                <a:latin typeface="Calibri"/>
              </a:rPr>
              <a:t>Case Toggle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0" y="3520439"/>
            <a:ext cx="4114800" cy="393192"/>
          </a:xfrm>
          <a:prstGeom prst="rect">
            <a:avLst/>
          </a:prstGeom>
          <a:solidFill>
            <a:srgbClr val="060614"/>
          </a:solidFill>
          <a:ln w="12700">
            <a:solidFill>
              <a:srgbClr val="20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64408" y="3557015"/>
            <a:ext cx="40050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6666"/>
                </a:solidFill>
                <a:latin typeface="Calibri"/>
              </a:rPr>
              <a:t>Did not exist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52360" y="3520439"/>
            <a:ext cx="4526280" cy="393192"/>
          </a:xfrm>
          <a:prstGeom prst="rect">
            <a:avLst/>
          </a:prstGeom>
          <a:solidFill>
            <a:srgbClr val="060614"/>
          </a:solidFill>
          <a:ln w="12700">
            <a:solidFill>
              <a:srgbClr val="20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16368" y="3557015"/>
            <a:ext cx="4416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FF88"/>
                </a:solidFill>
                <a:latin typeface="Calibri"/>
              </a:rPr>
              <a:t>New button: smooth hinge animation, pink active state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3950208"/>
            <a:ext cx="2743200" cy="393192"/>
          </a:xfrm>
          <a:prstGeom prst="rect">
            <a:avLst/>
          </a:prstGeom>
          <a:solidFill>
            <a:srgbClr val="080818"/>
          </a:solidFill>
          <a:ln w="12700">
            <a:solidFill>
              <a:srgbClr val="20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4048" y="3986784"/>
            <a:ext cx="2633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AA00"/>
                </a:solidFill>
                <a:latin typeface="Calibri"/>
              </a:rPr>
              <a:t>Components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0" y="3950208"/>
            <a:ext cx="4114800" cy="393192"/>
          </a:xfrm>
          <a:prstGeom prst="rect">
            <a:avLst/>
          </a:prstGeom>
          <a:solidFill>
            <a:srgbClr val="080818"/>
          </a:solidFill>
          <a:ln w="12700">
            <a:solidFill>
              <a:srgbClr val="20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64408" y="3986784"/>
            <a:ext cx="40050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6666"/>
                </a:solidFill>
                <a:latin typeface="Calibri"/>
              </a:rPr>
              <a:t>Hidden (visible=false) until install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52360" y="3950208"/>
            <a:ext cx="4526280" cy="393192"/>
          </a:xfrm>
          <a:prstGeom prst="rect">
            <a:avLst/>
          </a:prstGeom>
          <a:solidFill>
            <a:srgbClr val="080818"/>
          </a:solidFill>
          <a:ln w="12700">
            <a:solidFill>
              <a:srgbClr val="20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16368" y="3986784"/>
            <a:ext cx="4416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FF88"/>
                </a:solidFill>
                <a:latin typeface="Calibri"/>
              </a:rPr>
              <a:t>9 distinct detailed meshes; snap-in from above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4379976"/>
            <a:ext cx="2743200" cy="393192"/>
          </a:xfrm>
          <a:prstGeom prst="rect">
            <a:avLst/>
          </a:prstGeom>
          <a:solidFill>
            <a:srgbClr val="060614"/>
          </a:solidFill>
          <a:ln w="12700">
            <a:solidFill>
              <a:srgbClr val="20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84048" y="4416552"/>
            <a:ext cx="2633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AA00"/>
                </a:solidFill>
                <a:latin typeface="Calibri"/>
              </a:rPr>
              <a:t>Tooltip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0" y="4379976"/>
            <a:ext cx="4114800" cy="393192"/>
          </a:xfrm>
          <a:prstGeom prst="rect">
            <a:avLst/>
          </a:prstGeom>
          <a:solidFill>
            <a:srgbClr val="060614"/>
          </a:solidFill>
          <a:ln w="12700">
            <a:solidFill>
              <a:srgbClr val="20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64408" y="4416552"/>
            <a:ext cx="40050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6666"/>
                </a:solidFill>
                <a:latin typeface="Calibri"/>
              </a:rPr>
              <a:t>Browser title= attribute only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52360" y="4379976"/>
            <a:ext cx="4526280" cy="393192"/>
          </a:xfrm>
          <a:prstGeom prst="rect">
            <a:avLst/>
          </a:prstGeom>
          <a:solidFill>
            <a:srgbClr val="060614"/>
          </a:solidFill>
          <a:ln w="12700">
            <a:solidFill>
              <a:srgbClr val="20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16368" y="4416552"/>
            <a:ext cx="4416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FF88"/>
                </a:solidFill>
                <a:latin typeface="Calibri"/>
              </a:rPr>
              <a:t>Custom glassmorphism DOM tooltip, fade in/out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" y="4809744"/>
            <a:ext cx="2743200" cy="393192"/>
          </a:xfrm>
          <a:prstGeom prst="rect">
            <a:avLst/>
          </a:prstGeom>
          <a:solidFill>
            <a:srgbClr val="080818"/>
          </a:solidFill>
          <a:ln w="12700">
            <a:solidFill>
              <a:srgbClr val="20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84048" y="4846320"/>
            <a:ext cx="2633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AA00"/>
                </a:solidFill>
                <a:latin typeface="Calibri"/>
              </a:rPr>
              <a:t>Hover Effect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00400" y="4809744"/>
            <a:ext cx="4114800" cy="393192"/>
          </a:xfrm>
          <a:prstGeom prst="rect">
            <a:avLst/>
          </a:prstGeom>
          <a:solidFill>
            <a:srgbClr val="080818"/>
          </a:solidFill>
          <a:ln w="12700">
            <a:solidFill>
              <a:srgbClr val="20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64408" y="4846320"/>
            <a:ext cx="40050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6666"/>
                </a:solidFill>
                <a:latin typeface="Calibri"/>
              </a:rPr>
              <a:t>Basic emissive on some meshes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452360" y="4809744"/>
            <a:ext cx="4526280" cy="393192"/>
          </a:xfrm>
          <a:prstGeom prst="rect">
            <a:avLst/>
          </a:prstGeom>
          <a:solidFill>
            <a:srgbClr val="080818"/>
          </a:solidFill>
          <a:ln w="12700">
            <a:solidFill>
              <a:srgbClr val="20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16368" y="4846320"/>
            <a:ext cx="4416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FF88"/>
                </a:solidFill>
                <a:latin typeface="Calibri"/>
              </a:rPr>
              <a:t>Recursive emissive + cursor change + tooltip trigger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" y="5239512"/>
            <a:ext cx="2743200" cy="393192"/>
          </a:xfrm>
          <a:prstGeom prst="rect">
            <a:avLst/>
          </a:prstGeom>
          <a:solidFill>
            <a:srgbClr val="060614"/>
          </a:solidFill>
          <a:ln w="12700">
            <a:solidFill>
              <a:srgbClr val="20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84048" y="5276088"/>
            <a:ext cx="2633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AA00"/>
                </a:solidFill>
                <a:latin typeface="Calibri"/>
              </a:rPr>
              <a:t>Canvas Feedback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00400" y="5239512"/>
            <a:ext cx="4114800" cy="393192"/>
          </a:xfrm>
          <a:prstGeom prst="rect">
            <a:avLst/>
          </a:prstGeom>
          <a:solidFill>
            <a:srgbClr val="060614"/>
          </a:solidFill>
          <a:ln w="12700">
            <a:solidFill>
              <a:srgbClr val="20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64408" y="5276088"/>
            <a:ext cx="40050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6666"/>
                </a:solidFill>
                <a:latin typeface="Calibri"/>
              </a:rPr>
              <a:t>No visual install feedback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452360" y="5239512"/>
            <a:ext cx="4526280" cy="393192"/>
          </a:xfrm>
          <a:prstGeom prst="rect">
            <a:avLst/>
          </a:prstGeom>
          <a:solidFill>
            <a:srgbClr val="060614"/>
          </a:solidFill>
          <a:ln w="12700">
            <a:solidFill>
              <a:srgbClr val="20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16368" y="5276088"/>
            <a:ext cx="4416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FF88"/>
                </a:solidFill>
                <a:latin typeface="Calibri"/>
              </a:rPr>
              <a:t>Green border pulse animation (assembly-success)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20040" y="5669279"/>
            <a:ext cx="2743200" cy="393192"/>
          </a:xfrm>
          <a:prstGeom prst="rect">
            <a:avLst/>
          </a:prstGeom>
          <a:solidFill>
            <a:srgbClr val="080818"/>
          </a:solidFill>
          <a:ln w="12700">
            <a:solidFill>
              <a:srgbClr val="20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84048" y="5705855"/>
            <a:ext cx="2633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AA00"/>
                </a:solidFill>
                <a:latin typeface="Calibri"/>
              </a:rPr>
              <a:t>Fan Animation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200400" y="5669279"/>
            <a:ext cx="4114800" cy="393192"/>
          </a:xfrm>
          <a:prstGeom prst="rect">
            <a:avLst/>
          </a:prstGeom>
          <a:solidFill>
            <a:srgbClr val="080818"/>
          </a:solidFill>
          <a:ln w="12700">
            <a:solidFill>
              <a:srgbClr val="20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264408" y="5705855"/>
            <a:ext cx="40050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6666"/>
                </a:solidFill>
                <a:latin typeface="Calibri"/>
              </a:rPr>
              <a:t>rotation.z on parent group (buggy)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452360" y="5669279"/>
            <a:ext cx="4526280" cy="393192"/>
          </a:xfrm>
          <a:prstGeom prst="rect">
            <a:avLst/>
          </a:prstGeom>
          <a:solidFill>
            <a:srgbClr val="080818"/>
          </a:solidFill>
          <a:ln w="12700">
            <a:solidFill>
              <a:srgbClr val="20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16368" y="5705855"/>
            <a:ext cx="4416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FF88"/>
                </a:solidFill>
                <a:latin typeface="Calibri"/>
              </a:rPr>
              <a:t>Dedicated _spinMeshes array, correct sub-group spin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20040" y="6099048"/>
            <a:ext cx="2743200" cy="393192"/>
          </a:xfrm>
          <a:prstGeom prst="rect">
            <a:avLst/>
          </a:prstGeom>
          <a:solidFill>
            <a:srgbClr val="060614"/>
          </a:solidFill>
          <a:ln w="12700">
            <a:solidFill>
              <a:srgbClr val="20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84048" y="6135624"/>
            <a:ext cx="2633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AA00"/>
                </a:solidFill>
                <a:latin typeface="Calibri"/>
              </a:rPr>
              <a:t>CDN URLs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200400" y="6099048"/>
            <a:ext cx="4114800" cy="393192"/>
          </a:xfrm>
          <a:prstGeom prst="rect">
            <a:avLst/>
          </a:prstGeom>
          <a:solidFill>
            <a:srgbClr val="060614"/>
          </a:solidFill>
          <a:ln w="12700">
            <a:solidFill>
              <a:srgbClr val="20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264408" y="6135624"/>
            <a:ext cx="40050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6666"/>
                </a:solidFill>
                <a:latin typeface="Calibri"/>
              </a:rPr>
              <a:t>cdnjs r128 Three + unpkg OrbitControls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452360" y="6099048"/>
            <a:ext cx="4526280" cy="393192"/>
          </a:xfrm>
          <a:prstGeom prst="rect">
            <a:avLst/>
          </a:prstGeom>
          <a:solidFill>
            <a:srgbClr val="060614"/>
          </a:solidFill>
          <a:ln w="12700">
            <a:solidFill>
              <a:srgbClr val="20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16368" y="6135624"/>
            <a:ext cx="4416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FF88"/>
                </a:solidFill>
                <a:latin typeface="Calibri"/>
              </a:rPr>
              <a:t>cdn.jsdelivr.net/npm/three@0.128.0 — both files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97280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BB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145577708800" cy="919740096000"/>
          </a:xfrm>
          <a:prstGeom prst="rect">
            <a:avLst/>
          </a:prstGeom>
          <a:solidFill>
            <a:srgbClr val="00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CONCLUSION  &amp;  KEY ACHIEVEMENTS</a:t>
            </a:r>
          </a:p>
        </p:txBody>
      </p:sp>
      <p:pic>
        <p:nvPicPr>
          <p:cNvPr id="6" name="Picture 5" descr="click_feedback_17734744861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5486400" cy="46634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80760" y="1097280"/>
            <a:ext cx="5897880" cy="804672"/>
          </a:xfrm>
          <a:prstGeom prst="rect">
            <a:avLst/>
          </a:prstGeom>
          <a:solidFill>
            <a:srgbClr val="07071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80760" y="1097280"/>
            <a:ext cx="54864" cy="8046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133856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✓ Fully Functional 3D Simulator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499616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FF"/>
                </a:solidFill>
                <a:latin typeface="Calibri"/>
              </a:rPr>
              <a:t>Professional-grade Three.js scene with PBR materials, lights, OrbitControls, and animation loop.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2002536"/>
            <a:ext cx="5897880" cy="804672"/>
          </a:xfrm>
          <a:prstGeom prst="rect">
            <a:avLst/>
          </a:prstGeom>
          <a:solidFill>
            <a:srgbClr val="07071A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0760" y="2002536"/>
            <a:ext cx="54864" cy="80467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203911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88"/>
                </a:solidFill>
                <a:latin typeface="Calibri"/>
              </a:rPr>
              <a:t>✓ Interactive Hardware Education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40487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FF"/>
                </a:solidFill>
                <a:latin typeface="Calibri"/>
              </a:rPr>
              <a:t>9 distinct 3D component meshes teach real PC hardware via hover, click, snap, and guided build.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2907791"/>
            <a:ext cx="5897880" cy="804672"/>
          </a:xfrm>
          <a:prstGeom prst="rect">
            <a:avLst/>
          </a:prstGeom>
          <a:solidFill>
            <a:srgbClr val="07071A"/>
          </a:solidFill>
          <a:ln w="12700">
            <a:solidFill>
              <a:srgbClr val="7B2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0760" y="2907791"/>
            <a:ext cx="54864" cy="804672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94436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B2FF7"/>
                </a:solidFill>
                <a:latin typeface="Calibri"/>
              </a:rPr>
              <a:t>✓ All Camera Controls Working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310127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FF"/>
                </a:solidFill>
                <a:latin typeface="Calibri"/>
              </a:rPr>
              <a:t>6-button control panel: zoom, rotate, reset (animated lerp), fullscreen, case toggle — all verified.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3813048"/>
            <a:ext cx="5897880" cy="804672"/>
          </a:xfrm>
          <a:prstGeom prst="rect">
            <a:avLst/>
          </a:prstGeom>
          <a:solidFill>
            <a:srgbClr val="07071A"/>
          </a:solidFill>
          <a:ln w="12700">
            <a:solidFill>
              <a:srgbClr val="FF2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80760" y="3813048"/>
            <a:ext cx="54864" cy="804672"/>
          </a:xfrm>
          <a:prstGeom prst="rect">
            <a:avLst/>
          </a:prstGeom>
          <a:solidFill>
            <a:srgbClr val="FF2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3849624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2D95"/>
                </a:solidFill>
                <a:latin typeface="Calibri"/>
              </a:rPr>
              <a:t>✓ Openable 3D PC Case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215384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FF"/>
                </a:solidFill>
                <a:latin typeface="Calibri"/>
              </a:rPr>
              <a:t>Tempered glass side panel smoothly swings open on a virtual hinge revealing internal components.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0760" y="4718304"/>
            <a:ext cx="5897880" cy="804672"/>
          </a:xfrm>
          <a:prstGeom prst="rect">
            <a:avLst/>
          </a:prstGeom>
          <a:solidFill>
            <a:srgbClr val="07071A"/>
          </a:solidFill>
          <a:ln w="127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80760" y="4718304"/>
            <a:ext cx="54864" cy="804672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475488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A00"/>
                </a:solidFill>
                <a:latin typeface="Calibri"/>
              </a:rPr>
              <a:t>✓ Professional UI/UX Design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51206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FF"/>
                </a:solidFill>
                <a:latin typeface="Calibri"/>
              </a:rPr>
              <a:t>Dark futuristic theme, glassmorphism, scanlines, RGB strips, tooltips, and smooth animations throughout.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60" y="5623560"/>
            <a:ext cx="5897880" cy="804672"/>
          </a:xfrm>
          <a:prstGeom prst="rect">
            <a:avLst/>
          </a:prstGeom>
          <a:solidFill>
            <a:srgbClr val="07071A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80760" y="5623560"/>
            <a:ext cx="54864" cy="80467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660136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88"/>
                </a:solidFill>
                <a:latin typeface="Calibri"/>
              </a:rPr>
              <a:t>✓ No External Dependencies Added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6025896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FF"/>
                </a:solidFill>
                <a:latin typeface="Calibri"/>
              </a:rPr>
              <a:t>Pure Three.js + vanilla JS — no React, no Vue, no build step. Works in any modern browser.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355080"/>
            <a:ext cx="11145577708800" cy="459870048000"/>
          </a:xfrm>
          <a:prstGeom prst="rect">
            <a:avLst/>
          </a:prstGeom>
          <a:solidFill>
            <a:srgbClr val="0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BB"/>
                </a:solidFill>
                <a:latin typeface="Calibri"/>
              </a:rPr>
              <a:t>PC Build Learning Simulator v3.0   ·   Three.js WebGL   ·   Vanilla JS / HTML5 / CSS3   ·   March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BB"/>
                </a:solidFill>
                <a:latin typeface="Calibr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